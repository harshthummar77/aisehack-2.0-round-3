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Team 8bit. Sokhda village, Vadodara — 966 plots, 447 hectares, six Capella X-band passes across kharif 2025. Our job this round is a final at-harvest forecast, not a snapshot. Ten minutes, and I want to spend most of them on what we could NOT do as much as what we could.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asked how the crop was doing on 13 October. Round 3 asks what comes off the field. Those are different problems. The six passes answer them very unevenly. Rice we see end to end. Cotton is still standing at the last pass, so its forecast is real extrapolation. Maize, bajra and groundnut have a sixty-day hole that swallows their entire maturity and harvest — one in-season look each. That asymmetry is not a caveat we bolted on. It sets the whole uncertainty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system on one slide. Left, what goes in. Centre, five stages from complex SLC to the forecast. Right, two things we tested and did not use — I will come back to those, because they matter. And bottom left, Sentinel-2, which is held out of every fitting step. That is the only reason our validation means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the complex SLC to the CSV is ours, built from the Capella metadata and the RPC model. No SNAP, no ISCE, no gdalwarp. Four numbers: our RPC reproduces the 225 control points Capella ships to four decimal places of a pixel. The ellipsoid-geoid datum is solved from those same control points, not assumed. Co-registration is within twelve centimetres on all six passes. And a plot mean is good to about a tenth of a decibel.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mistake we made and caught. We first geocoded at a single constant height. All six passes agreed on minus twenty metres, residual under three metres. It looked fine. It was not — because a global shift metric recovers the mean alignment and completely hides terrain, and this block has twenty-six metres of relief, worth forty-six metres of ground range. The tell was the one right-looking pass. A height error pushes opposite look directions in opposite directions. Once we carried per-pixel terrain, that residual fell from 2.54 metres to 12 centimetres.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Geometry drove the design. Six passes, incidence from 28.7 to 35.2 degrees, one of them right-looking. No single normalisation removes that from a mixed scene. So two rules. First, every feature is a village anomaly — a plot minus the village median on that same date. In one step that cancels gain, incidence, look direction and the soil moisture common to all fields. Second, we only difference date pairs that are geometrically safe. There are exactly two.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uncomfortable measurement. On this village, the median change in gamma-nought at peak season is minus zero point five eight decibels relative to bare soil. Peak-season fields are darker than bare ground. That is physically right at HH — a closed canopy attenuates a rough tilled surface more than it scatters back. Combined with X-band's early saturation against LAI, it means inverting this data for biomass would be indefensible. So we do not. We use timing, retention and evenness instead.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a SAR audience will ask: you had six SLCs, why only the amplitude? We answer it with numbers. Of fifteen pass pairs, five are opposite-look and nine are beyond the critical baseline — some by a factor of a hundred. Exactly one pair is geometrically viable, and it is 56 days apart, which is far beyond X-band coherence over a growing canopy. So repeat-pass InSAR is structurally unavailable. We then tried sub-look coherence, which is single-pass and immune to temporal decorrelation. The estimator works — point scatterers reach 0.98 against 0.25 for clutter. But at plot level it is null. We report it as a null.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in one line. District statistics set the level; the SAR index sets the distribution around it. We separate those two deliberately, because with no ground truth the radar can rank plots but it cannot tell you the absolute level. The lognormal form makes the area-weighted village mean reproduce the anchor by construction — so the anchor is a stated assumption, not a hidden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re-derived the crop map from all six passes. It agrees with the carry-forward on only 46 per cent of plots. So we adjudicated using Sentinel-2, which neither classifier had seen. The carry-forward separates November greenness better on both dates. Our new classifier is not an improvement, so we did not adopt it. The disagreement becomes a measurement of label uncertainty instead. Crop labelling, not the radar, is the dominant uncertainty in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Two Sentinel-2 scenes fall on exactly the same day as Capella passes, so no interpolation. The headline is the within-crop result. Our yield index correlates significantly for rice and cotton — the two crops still standing on 13 October — and is statistically null for maize, bajra and groundnut, the three already cut, where both sensors see bare soil. A speckle artefact would correlate everywhere or nowhere. This validates exactly where a crop is still in the field. And on the right, why SAR: a 111-day optical blackout across the whole monsoon.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plot-level forecast, all 966 plots. What I want you to notice is that the pattern forms coherent spatial blocks — contiguous stronger and weaker areas — rather than plot-level noise. That is what genuine agronomic variation looks like. A speckle-driven artefact would not do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village result. 756 tonnes across 447 hectares. Every village mean sits on its district anchor by construction; the intervals come from the Monte Carlo. Note that the interval widths order correctly with how much of each crop we actually saw — bajra widest, rice tightest. Cotton is reported as lint; that is about 2,340 kilograms per hectare of seed cotton.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honest headline risk. The carry-forward puts groundnut at 28 per cent of Sokhda. The Directorate of Agriculture puts groundnut at nought point three five per cent of the district. Those cannot both be right. We ran the assignment under both area constraints and publish both. Village production moves from 763 tonnes to 570 — a 25 per cent swing, essentially all of it groundnut. Our plot-level radar work is solid. The crop map we inherited is the thing that would move the answer, and we would rather quantify that than hide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is weakest, plainly. No ground truth exists, so absolute accuracy is untestable — only internal consistency and independent optical agreement. Three crops rest on a single in-season look. Labels dominate the error budget. Only five classes are allowed but Vadodara also grows castor and pigeon pea at areas like maize, so some plots are certainly something else. And 43 plots fall outside every swath — flagged, not hidden.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would ask for next. One acquisition in early September would convert three crops from one-look estimates into properly sampled seasons — the biggest gain available for the least data. Any dual-pol acquisition would let us separate volume from surface scattering, which is what forced us away from biomass inversion. And twenty ground-truth plots — not to fit the model, but to estimate the one parameter we currently have to assume.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01_cover.png"/>
          <p:cNvPicPr>
            <a:picLocks noChangeAspect="1"/>
          </p:cNvPicPr>
          <p:nvPr/>
        </p:nvPicPr>
        <p:blipFill>
          <a:blip r:embed="rId3"/>
          <a:stretch>
            <a:fillRect/>
          </a:stretch>
        </p:blipFill>
        <p:spPr>
          <a:xfrm>
            <a:off x="0" y="-822960"/>
            <a:ext cx="12191695" cy="8906081"/>
          </a:xfrm>
          <a:prstGeom prst="rect">
            <a:avLst/>
          </a:prstGeom>
        </p:spPr>
      </p:pic>
      <p:sp>
        <p:nvSpPr>
          <p:cNvPr id="3" name="Rectangle 2"/>
          <p:cNvSpPr/>
          <p:nvPr/>
        </p:nvSpPr>
        <p:spPr>
          <a:xfrm>
            <a:off x="0" y="4114800"/>
            <a:ext cx="12191695"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97680"/>
            <a:ext cx="10972800" cy="777240"/>
          </a:xfrm>
          <a:prstGeom prst="rect">
            <a:avLst/>
          </a:prstGeom>
          <a:noFill/>
        </p:spPr>
        <p:txBody>
          <a:bodyPr wrap="square" lIns="0" rIns="0" tIns="0" bIns="0">
            <a:spAutoFit/>
          </a:bodyPr>
          <a:lstStyle/>
          <a:p>
            <a:pPr algn="l">
              <a:lnSpc>
                <a:spcPct val="120000"/>
              </a:lnSpc>
              <a:spcAft>
                <a:spcPts val="800"/>
              </a:spcAft>
            </a:pPr>
            <a:r>
              <a:rPr sz="4600" b="1" i="0">
                <a:solidFill>
                  <a:srgbClr val="141B24"/>
                </a:solidFill>
                <a:latin typeface="Segoe UI"/>
              </a:rPr>
              <a:t>Six Looks, One Harvest</a:t>
            </a:r>
          </a:p>
        </p:txBody>
      </p:sp>
      <p:sp>
        <p:nvSpPr>
          <p:cNvPr id="5" name="TextBox 4"/>
          <p:cNvSpPr txBox="1"/>
          <p:nvPr/>
        </p:nvSpPr>
        <p:spPr>
          <a:xfrm>
            <a:off x="640080" y="5074920"/>
            <a:ext cx="10972800" cy="457200"/>
          </a:xfrm>
          <a:prstGeom prst="rect">
            <a:avLst/>
          </a:prstGeom>
          <a:noFill/>
        </p:spPr>
        <p:txBody>
          <a:bodyPr wrap="square" lIns="0" rIns="0" tIns="0" bIns="0">
            <a:spAutoFit/>
          </a:bodyPr>
          <a:lstStyle/>
          <a:p>
            <a:pPr algn="l">
              <a:lnSpc>
                <a:spcPct val="120000"/>
              </a:lnSpc>
              <a:spcAft>
                <a:spcPts val="800"/>
              </a:spcAft>
            </a:pPr>
            <a:r>
              <a:rPr sz="1700" b="0" i="0">
                <a:solidFill>
                  <a:srgbClr val="5B6876"/>
                </a:solidFill>
                <a:latin typeface="Segoe UI"/>
              </a:rPr>
              <a:t>A final yield forecast for 966 plots in Sokhda, Vadodara — from six Capella X-band passes</a:t>
            </a:r>
          </a:p>
        </p:txBody>
      </p:sp>
      <p:sp>
        <p:nvSpPr>
          <p:cNvPr id="6" name="TextBox 5"/>
          <p:cNvSpPr txBox="1"/>
          <p:nvPr/>
        </p:nvSpPr>
        <p:spPr>
          <a:xfrm>
            <a:off x="640080" y="5760720"/>
            <a:ext cx="10972800" cy="365760"/>
          </a:xfrm>
          <a:prstGeom prst="rect">
            <a:avLst/>
          </a:prstGeom>
          <a:noFill/>
        </p:spPr>
        <p:txBody>
          <a:bodyPr wrap="square" lIns="0" rIns="0" tIns="0" bIns="0">
            <a:spAutoFit/>
          </a:bodyPr>
          <a:lstStyle/>
          <a:p>
            <a:pPr algn="l">
              <a:lnSpc>
                <a:spcPct val="120000"/>
              </a:lnSpc>
              <a:spcAft>
                <a:spcPts val="800"/>
              </a:spcAft>
            </a:pPr>
            <a:r>
              <a:rPr sz="1600" b="1" i="0">
                <a:solidFill>
                  <a:srgbClr val="15678A"/>
                </a:solidFill>
                <a:latin typeface="Segoe UI"/>
              </a:rPr>
              <a:t>Team 8bit  ·  Harsh Thummar  ·  Viraj Suhagiya</a:t>
            </a:r>
          </a:p>
        </p:txBody>
      </p:sp>
      <p:sp>
        <p:nvSpPr>
          <p:cNvPr id="7" name="TextBox 6"/>
          <p:cNvSpPr txBox="1"/>
          <p:nvPr/>
        </p:nvSpPr>
        <p:spPr>
          <a:xfrm>
            <a:off x="640080" y="6199632"/>
            <a:ext cx="10972800" cy="320040"/>
          </a:xfrm>
          <a:prstGeom prst="rect">
            <a:avLst/>
          </a:prstGeom>
          <a:noFill/>
        </p:spPr>
        <p:txBody>
          <a:bodyPr wrap="square" lIns="0" rIns="0" tIns="0" bIns="0">
            <a:spAutoFit/>
          </a:bodyPr>
          <a:lstStyle/>
          <a:p>
            <a:pPr algn="l">
              <a:lnSpc>
                <a:spcPct val="120000"/>
              </a:lnSpc>
              <a:spcAft>
                <a:spcPts val="800"/>
              </a:spcAft>
            </a:pPr>
            <a:r>
              <a:rPr sz="1250" b="0" i="0">
                <a:solidFill>
                  <a:srgbClr val="5B6876"/>
                </a:solidFill>
                <a:latin typeface="Segoe UI"/>
              </a:rPr>
              <a:t>ANRF AISEHack 2.0 · Round 3 · Remote Sensing: Yield Estimation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Round 3 is a different problem</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Round 2 asked how the crop was doing. Round 3 asks what comes off the field.</a:t>
            </a:r>
          </a:p>
        </p:txBody>
      </p:sp>
      <p:graphicFrame>
        <p:nvGraphicFramePr>
          <p:cNvPr id="5" name="Table 4"/>
          <p:cNvGraphicFramePr>
            <a:graphicFrameLocks noGrp="1"/>
          </p:cNvGraphicFramePr>
          <p:nvPr/>
        </p:nvGraphicFramePr>
        <p:xfrm>
          <a:off x="731520" y="1463040"/>
          <a:ext cx="10698478" cy="2468880"/>
        </p:xfrm>
        <a:graphic>
          <a:graphicData uri="http://schemas.openxmlformats.org/drawingml/2006/table">
            <a:tbl>
              <a:tblPr firstRow="1" bandRow="1">
                <a:tableStyleId>{5C22544A-7EE6-4342-B048-85BDC9FD1C3A}</a:tableStyleId>
              </a:tblPr>
              <a:tblGrid>
                <a:gridCol w="2064618"/>
                <a:gridCol w="2064618"/>
                <a:gridCol w="6569242"/>
              </a:tblGrid>
              <a:tr h="411480">
                <a:tc>
                  <a:txBody>
                    <a:bodyPr/>
                    <a:lstStyle/>
                    <a:p>
                      <a:pPr algn="ctr"/>
                      <a:r>
                        <a:rPr sz="1500" b="1">
                          <a:solidFill>
                            <a:srgbClr val="FFFFFF"/>
                          </a:solidFill>
                          <a:latin typeface="Segoe UI"/>
                        </a:rPr>
                        <a:t>Crop</a:t>
                      </a:r>
                    </a:p>
                  </a:txBody>
                  <a:tcPr anchor="ctr">
                    <a:solidFill>
                      <a:srgbClr val="15678A"/>
                    </a:solidFill>
                  </a:tcPr>
                </a:tc>
                <a:tc>
                  <a:txBody>
                    <a:bodyPr/>
                    <a:lstStyle/>
                    <a:p>
                      <a:pPr algn="ctr"/>
                      <a:r>
                        <a:rPr sz="1500" b="1">
                          <a:solidFill>
                            <a:srgbClr val="FFFFFF"/>
                          </a:solidFill>
                          <a:latin typeface="Segoe UI"/>
                        </a:rPr>
                        <a:t>Cycle seen</a:t>
                      </a:r>
                    </a:p>
                  </a:txBody>
                  <a:tcPr anchor="ctr">
                    <a:solidFill>
                      <a:srgbClr val="15678A"/>
                    </a:solidFill>
                  </a:tcPr>
                </a:tc>
                <a:tc>
                  <a:txBody>
                    <a:bodyPr/>
                    <a:lstStyle/>
                    <a:p>
                      <a:pPr algn="ctr"/>
                      <a:r>
                        <a:rPr sz="1500" b="1">
                          <a:solidFill>
                            <a:srgbClr val="FFFFFF"/>
                          </a:solidFill>
                          <a:latin typeface="Segoe UI"/>
                        </a:rPr>
                        <a:t>So the forecast is…</a:t>
                      </a:r>
                    </a:p>
                  </a:txBody>
                  <a:tcPr anchor="ctr">
                    <a:solidFill>
                      <a:srgbClr val="15678A"/>
                    </a:solidFill>
                  </a:tcPr>
                </a:tc>
              </a:tr>
              <a:tr h="411480">
                <a:tc>
                  <a:txBody>
                    <a:bodyPr/>
                    <a:lstStyle/>
                    <a:p>
                      <a:pPr algn="l"/>
                      <a:r>
                        <a:rPr sz="1700" b="1">
                          <a:solidFill>
                            <a:srgbClr val="141B24"/>
                          </a:solidFill>
                          <a:latin typeface="Segoe UI"/>
                        </a:rPr>
                        <a:t>Rice</a:t>
                      </a:r>
                    </a:p>
                  </a:txBody>
                  <a:tcPr anchor="ctr">
                    <a:solidFill>
                      <a:srgbClr val="FFFFFF"/>
                    </a:solidFill>
                  </a:tcPr>
                </a:tc>
                <a:tc>
                  <a:txBody>
                    <a:bodyPr/>
                    <a:lstStyle/>
                    <a:p>
                      <a:pPr algn="ctr"/>
                      <a:r>
                        <a:rPr sz="1700" b="1">
                          <a:solidFill>
                            <a:srgbClr val="141B24"/>
                          </a:solidFill>
                          <a:latin typeface="Segoe UI"/>
                        </a:rPr>
                        <a:t>100%</a:t>
                      </a:r>
                    </a:p>
                  </a:txBody>
                  <a:tcPr anchor="ctr">
                    <a:solidFill>
                      <a:srgbClr val="FFFFFF"/>
                    </a:solidFill>
                  </a:tcPr>
                </a:tc>
                <a:tc>
                  <a:txBody>
                    <a:bodyPr/>
                    <a:lstStyle/>
                    <a:p>
                      <a:pPr algn="ctr"/>
                      <a:r>
                        <a:rPr sz="1700" b="1">
                          <a:solidFill>
                            <a:srgbClr val="141B24"/>
                          </a:solidFill>
                          <a:latin typeface="Segoe UI"/>
                        </a:rPr>
                        <a:t>a reconstruction — season complete</a:t>
                      </a:r>
                    </a:p>
                  </a:txBody>
                  <a:tcPr anchor="ctr">
                    <a:solidFill>
                      <a:srgbClr val="FFFFFF"/>
                    </a:solidFill>
                  </a:tcPr>
                </a:tc>
              </a:tr>
              <a:tr h="411480">
                <a:tc>
                  <a:txBody>
                    <a:bodyPr/>
                    <a:lstStyle/>
                    <a:p>
                      <a:pPr algn="l"/>
                      <a:r>
                        <a:rPr sz="1700" b="1">
                          <a:solidFill>
                            <a:srgbClr val="141B24"/>
                          </a:solidFill>
                          <a:latin typeface="Segoe UI"/>
                        </a:rPr>
                        <a:t>Cotton</a:t>
                      </a:r>
                    </a:p>
                  </a:txBody>
                  <a:tcPr anchor="ctr">
                    <a:solidFill>
                      <a:srgbClr val="F1F5F7"/>
                    </a:solidFill>
                  </a:tcPr>
                </a:tc>
                <a:tc>
                  <a:txBody>
                    <a:bodyPr/>
                    <a:lstStyle/>
                    <a:p>
                      <a:pPr algn="ctr"/>
                      <a:r>
                        <a:rPr sz="1700" b="1">
                          <a:solidFill>
                            <a:srgbClr val="141B24"/>
                          </a:solidFill>
                          <a:latin typeface="Segoe UI"/>
                        </a:rPr>
                        <a:t>78%</a:t>
                      </a:r>
                    </a:p>
                  </a:txBody>
                  <a:tcPr anchor="ctr">
                    <a:solidFill>
                      <a:srgbClr val="F1F5F7"/>
                    </a:solidFill>
                  </a:tcPr>
                </a:tc>
                <a:tc>
                  <a:txBody>
                    <a:bodyPr/>
                    <a:lstStyle/>
                    <a:p>
                      <a:pPr algn="ctr"/>
                      <a:r>
                        <a:rPr sz="1700" b="1">
                          <a:solidFill>
                            <a:srgbClr val="141B24"/>
                          </a:solidFill>
                          <a:latin typeface="Segoe UI"/>
                        </a:rPr>
                        <a:t>genuine extrapolation past 12 Nov</a:t>
                      </a:r>
                    </a:p>
                  </a:txBody>
                  <a:tcPr anchor="ctr">
                    <a:solidFill>
                      <a:srgbClr val="F1F5F7"/>
                    </a:solidFill>
                  </a:tcPr>
                </a:tc>
              </a:tr>
              <a:tr h="411480">
                <a:tc>
                  <a:txBody>
                    <a:bodyPr/>
                    <a:lstStyle/>
                    <a:p>
                      <a:pPr algn="l"/>
                      <a:r>
                        <a:rPr sz="1700" b="0">
                          <a:solidFill>
                            <a:srgbClr val="141B24"/>
                          </a:solidFill>
                          <a:latin typeface="Segoe UI"/>
                        </a:rPr>
                        <a:t>Groundnut</a:t>
                      </a:r>
                    </a:p>
                  </a:txBody>
                  <a:tcPr anchor="ctr">
                    <a:solidFill>
                      <a:srgbClr val="FFFFFF"/>
                    </a:solidFill>
                  </a:tcPr>
                </a:tc>
                <a:tc>
                  <a:txBody>
                    <a:bodyPr/>
                    <a:lstStyle/>
                    <a:p>
                      <a:pPr algn="ctr"/>
                      <a:r>
                        <a:rPr sz="1700" b="0">
                          <a:solidFill>
                            <a:srgbClr val="141B24"/>
                          </a:solidFill>
                          <a:latin typeface="Segoe UI"/>
                        </a:rPr>
                        <a:t>60%</a:t>
                      </a:r>
                    </a:p>
                  </a:txBody>
                  <a:tcPr anchor="ctr">
                    <a:solidFill>
                      <a:srgbClr val="FFFFFF"/>
                    </a:solidFill>
                  </a:tcPr>
                </a:tc>
                <a:tc>
                  <a:txBody>
                    <a:bodyPr/>
                    <a:lstStyle/>
                    <a:p>
                      <a:pPr algn="ctr"/>
                      <a:r>
                        <a:rPr sz="1700" b="0">
                          <a:solidFill>
                            <a:srgbClr val="141B24"/>
                          </a:solidFill>
                          <a:latin typeface="Segoe UI"/>
                        </a:rPr>
                        <a:t>one in-season look</a:t>
                      </a:r>
                    </a:p>
                  </a:txBody>
                  <a:tcPr anchor="ctr">
                    <a:solidFill>
                      <a:srgbClr val="FFFFFF"/>
                    </a:solidFill>
                  </a:tcPr>
                </a:tc>
              </a:tr>
              <a:tr h="411480">
                <a:tc>
                  <a:txBody>
                    <a:bodyPr/>
                    <a:lstStyle/>
                    <a:p>
                      <a:pPr algn="l"/>
                      <a:r>
                        <a:rPr sz="1700" b="0">
                          <a:solidFill>
                            <a:srgbClr val="141B24"/>
                          </a:solidFill>
                          <a:latin typeface="Segoe UI"/>
                        </a:rPr>
                        <a:t>Maize</a:t>
                      </a:r>
                    </a:p>
                  </a:txBody>
                  <a:tcPr anchor="ctr">
                    <a:solidFill>
                      <a:srgbClr val="F1F5F7"/>
                    </a:solidFill>
                  </a:tcPr>
                </a:tc>
                <a:tc>
                  <a:txBody>
                    <a:bodyPr/>
                    <a:lstStyle/>
                    <a:p>
                      <a:pPr algn="ctr"/>
                      <a:r>
                        <a:rPr sz="1700" b="0">
                          <a:solidFill>
                            <a:srgbClr val="141B24"/>
                          </a:solidFill>
                          <a:latin typeface="Segoe UI"/>
                        </a:rPr>
                        <a:t>55%</a:t>
                      </a:r>
                    </a:p>
                  </a:txBody>
                  <a:tcPr anchor="ctr">
                    <a:solidFill>
                      <a:srgbClr val="F1F5F7"/>
                    </a:solidFill>
                  </a:tcPr>
                </a:tc>
                <a:tc>
                  <a:txBody>
                    <a:bodyPr/>
                    <a:lstStyle/>
                    <a:p>
                      <a:pPr algn="ctr"/>
                      <a:r>
                        <a:rPr sz="1700" b="0">
                          <a:solidFill>
                            <a:srgbClr val="141B24"/>
                          </a:solidFill>
                          <a:latin typeface="Segoe UI"/>
                        </a:rPr>
                        <a:t>one in-season look</a:t>
                      </a:r>
                    </a:p>
                  </a:txBody>
                  <a:tcPr anchor="ctr">
                    <a:solidFill>
                      <a:srgbClr val="F1F5F7"/>
                    </a:solidFill>
                  </a:tcPr>
                </a:tc>
              </a:tr>
              <a:tr h="411480">
                <a:tc>
                  <a:txBody>
                    <a:bodyPr/>
                    <a:lstStyle/>
                    <a:p>
                      <a:pPr algn="l"/>
                      <a:r>
                        <a:rPr sz="1700" b="0">
                          <a:solidFill>
                            <a:srgbClr val="141B24"/>
                          </a:solidFill>
                          <a:latin typeface="Segoe UI"/>
                        </a:rPr>
                        <a:t>Bajra</a:t>
                      </a:r>
                    </a:p>
                  </a:txBody>
                  <a:tcPr anchor="ctr">
                    <a:solidFill>
                      <a:srgbClr val="FFFFFF"/>
                    </a:solidFill>
                  </a:tcPr>
                </a:tc>
                <a:tc>
                  <a:txBody>
                    <a:bodyPr/>
                    <a:lstStyle/>
                    <a:p>
                      <a:pPr algn="ctr"/>
                      <a:r>
                        <a:rPr sz="1700" b="0">
                          <a:solidFill>
                            <a:srgbClr val="141B24"/>
                          </a:solidFill>
                          <a:latin typeface="Segoe UI"/>
                        </a:rPr>
                        <a:t>50%</a:t>
                      </a:r>
                    </a:p>
                  </a:txBody>
                  <a:tcPr anchor="ctr">
                    <a:solidFill>
                      <a:srgbClr val="FFFFFF"/>
                    </a:solidFill>
                  </a:tcPr>
                </a:tc>
                <a:tc>
                  <a:txBody>
                    <a:bodyPr/>
                    <a:lstStyle/>
                    <a:p>
                      <a:pPr algn="ctr"/>
                      <a:r>
                        <a:rPr sz="1700" b="0">
                          <a:solidFill>
                            <a:srgbClr val="141B24"/>
                          </a:solidFill>
                          <a:latin typeface="Segoe UI"/>
                        </a:rPr>
                        <a:t>one in-season look</a:t>
                      </a:r>
                    </a:p>
                  </a:txBody>
                  <a:tcPr anchor="ctr">
                    <a:solidFill>
                      <a:srgbClr val="FFFFFF"/>
                    </a:solidFill>
                  </a:tcPr>
                </a:tc>
              </a:tr>
            </a:tbl>
          </a:graphicData>
        </a:graphic>
      </p:graphicFrame>
      <p:sp>
        <p:nvSpPr>
          <p:cNvPr id="6" name="TextBox 5"/>
          <p:cNvSpPr txBox="1"/>
          <p:nvPr/>
        </p:nvSpPr>
        <p:spPr>
          <a:xfrm>
            <a:off x="731520" y="4297680"/>
            <a:ext cx="10698480" cy="2011680"/>
          </a:xfrm>
          <a:prstGeom prst="rect">
            <a:avLst/>
          </a:prstGeom>
          <a:noFill/>
        </p:spPr>
        <p:txBody>
          <a:bodyPr wrap="square" lIns="0" rIns="0" tIns="0" bIns="0">
            <a:spAutoFit/>
          </a:bodyPr>
          <a:lstStyle/>
          <a:p>
            <a:pPr algn="l">
              <a:lnSpc>
                <a:spcPct val="120000"/>
              </a:lnSpc>
              <a:spcAft>
                <a:spcPts val="800"/>
              </a:spcAft>
            </a:pPr>
            <a:r>
              <a:rPr sz="1800" b="0" i="0">
                <a:solidFill>
                  <a:srgbClr val="141B24"/>
                </a:solidFill>
                <a:latin typeface="Segoe UI"/>
              </a:rPr>
              <a:t>The 14 Aug → 13 Oct gap is </a:t>
            </a:r>
            <a:r>
              <a:rPr sz="1800" b="1" i="0">
                <a:solidFill>
                  <a:srgbClr val="141B24"/>
                </a:solidFill>
                <a:latin typeface="Segoe UI"/>
              </a:rPr>
              <a:t>60 days</a:t>
            </a:r>
            <a:r>
              <a:rPr sz="1800" b="0" i="0">
                <a:solidFill>
                  <a:srgbClr val="141B24"/>
                </a:solidFill>
                <a:latin typeface="Segoe UI"/>
              </a:rPr>
              <a:t>. It contains the entire maturity and harvest of maize, bajra and groundnut.</a:t>
            </a:r>
          </a:p>
          <a:p>
            <a:pPr algn="l">
              <a:lnSpc>
                <a:spcPct val="120000"/>
              </a:lnSpc>
              <a:spcAft>
                <a:spcPts val="800"/>
              </a:spcAft>
            </a:pPr>
          </a:p>
          <a:p>
            <a:pPr algn="l">
              <a:lnSpc>
                <a:spcPct val="120000"/>
              </a:lnSpc>
              <a:spcAft>
                <a:spcPts val="800"/>
              </a:spcAft>
            </a:pPr>
            <a:r>
              <a:rPr sz="1800" b="1" i="0">
                <a:solidFill>
                  <a:srgbClr val="141B24"/>
                </a:solidFill>
                <a:latin typeface="Segoe UI"/>
              </a:rPr>
              <a:t>This is what sets the uncertainty structure — bajra's interval is widest, rice's is tightest.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System architecture</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Complex SLC in, at-harvest forecast out — and what we rejected on the way</a:t>
            </a:r>
          </a:p>
        </p:txBody>
      </p:sp>
      <p:pic>
        <p:nvPicPr>
          <p:cNvPr id="5" name="Picture 4" descr="00_architecture.png"/>
          <p:cNvPicPr>
            <a:picLocks noChangeAspect="1"/>
          </p:cNvPicPr>
          <p:nvPr/>
        </p:nvPicPr>
        <p:blipFill>
          <a:blip r:embed="rId3"/>
          <a:stretch>
            <a:fillRect/>
          </a:stretch>
        </p:blipFill>
        <p:spPr>
          <a:xfrm>
            <a:off x="228600" y="1143000"/>
            <a:ext cx="11750040" cy="703941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The measurement chain is ours, end to end</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Built from the Capella metadata and the RPC model — no SNAP, no ISCE, no gdalwarp</a:t>
            </a:r>
          </a:p>
        </p:txBody>
      </p:sp>
      <p:sp>
        <p:nvSpPr>
          <p:cNvPr id="5" name="TextBox 4"/>
          <p:cNvSpPr txBox="1"/>
          <p:nvPr/>
        </p:nvSpPr>
        <p:spPr>
          <a:xfrm>
            <a:off x="457200" y="1600200"/>
            <a:ext cx="2743200" cy="685800"/>
          </a:xfrm>
          <a:prstGeom prst="rect">
            <a:avLst/>
          </a:prstGeom>
          <a:noFill/>
        </p:spPr>
        <p:txBody>
          <a:bodyPr wrap="square" lIns="0" rIns="0" tIns="0" bIns="0">
            <a:spAutoFit/>
          </a:bodyPr>
          <a:lstStyle/>
          <a:p>
            <a:pPr algn="ctr">
              <a:lnSpc>
                <a:spcPct val="120000"/>
              </a:lnSpc>
              <a:spcAft>
                <a:spcPts val="800"/>
              </a:spcAft>
            </a:pPr>
            <a:r>
              <a:rPr sz="4000" b="1" i="0">
                <a:solidFill>
                  <a:srgbClr val="15678A"/>
                </a:solidFill>
                <a:latin typeface="Segoe UI"/>
              </a:rPr>
              <a:t>0.0000 px</a:t>
            </a:r>
          </a:p>
        </p:txBody>
      </p:sp>
      <p:sp>
        <p:nvSpPr>
          <p:cNvPr id="6" name="TextBox 5"/>
          <p:cNvSpPr txBox="1"/>
          <p:nvPr/>
        </p:nvSpPr>
        <p:spPr>
          <a:xfrm>
            <a:off x="457200" y="2313432"/>
            <a:ext cx="274320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RPC geocoding error against</a:t>
            </a:r>
          </a:p>
          <a:p>
            <a:pPr algn="ctr">
              <a:lnSpc>
                <a:spcPct val="120000"/>
              </a:lnSpc>
              <a:spcAft>
                <a:spcPts val="800"/>
              </a:spcAft>
            </a:pPr>
            <a:r>
              <a:rPr sz="1200" b="0" i="0">
                <a:solidFill>
                  <a:srgbClr val="5B6876"/>
                </a:solidFill>
                <a:latin typeface="Segoe UI"/>
              </a:rPr>
              <a:t>the 225 embedded GCPs</a:t>
            </a:r>
          </a:p>
        </p:txBody>
      </p:sp>
      <p:sp>
        <p:nvSpPr>
          <p:cNvPr id="7" name="TextBox 6"/>
          <p:cNvSpPr txBox="1"/>
          <p:nvPr/>
        </p:nvSpPr>
        <p:spPr>
          <a:xfrm>
            <a:off x="3291840" y="1600200"/>
            <a:ext cx="2743200" cy="685800"/>
          </a:xfrm>
          <a:prstGeom prst="rect">
            <a:avLst/>
          </a:prstGeom>
          <a:noFill/>
        </p:spPr>
        <p:txBody>
          <a:bodyPr wrap="square" lIns="0" rIns="0" tIns="0" bIns="0">
            <a:spAutoFit/>
          </a:bodyPr>
          <a:lstStyle/>
          <a:p>
            <a:pPr algn="ctr">
              <a:lnSpc>
                <a:spcPct val="120000"/>
              </a:lnSpc>
              <a:spcAft>
                <a:spcPts val="800"/>
              </a:spcAft>
            </a:pPr>
            <a:r>
              <a:rPr sz="4000" b="1" i="0">
                <a:solidFill>
                  <a:srgbClr val="2C7254"/>
                </a:solidFill>
                <a:latin typeface="Segoe UI"/>
              </a:rPr>
              <a:t>−62.02 m</a:t>
            </a:r>
          </a:p>
        </p:txBody>
      </p:sp>
      <p:sp>
        <p:nvSpPr>
          <p:cNvPr id="8" name="TextBox 7"/>
          <p:cNvSpPr txBox="1"/>
          <p:nvPr/>
        </p:nvSpPr>
        <p:spPr>
          <a:xfrm>
            <a:off x="3291840" y="2313432"/>
            <a:ext cx="274320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ellipsoid/geoid datum solved</a:t>
            </a:r>
          </a:p>
          <a:p>
            <a:pPr algn="ctr">
              <a:lnSpc>
                <a:spcPct val="120000"/>
              </a:lnSpc>
              <a:spcAft>
                <a:spcPts val="800"/>
              </a:spcAft>
            </a:pPr>
            <a:r>
              <a:rPr sz="1200" b="0" i="0">
                <a:solidFill>
                  <a:srgbClr val="5B6876"/>
                </a:solidFill>
                <a:latin typeface="Segoe UI"/>
              </a:rPr>
              <a:t>from the GCPs (sd 0.12 m)</a:t>
            </a:r>
          </a:p>
        </p:txBody>
      </p:sp>
      <p:sp>
        <p:nvSpPr>
          <p:cNvPr id="9" name="TextBox 8"/>
          <p:cNvSpPr txBox="1"/>
          <p:nvPr/>
        </p:nvSpPr>
        <p:spPr>
          <a:xfrm>
            <a:off x="6126480" y="1600200"/>
            <a:ext cx="2743200" cy="685800"/>
          </a:xfrm>
          <a:prstGeom prst="rect">
            <a:avLst/>
          </a:prstGeom>
          <a:noFill/>
        </p:spPr>
        <p:txBody>
          <a:bodyPr wrap="square" lIns="0" rIns="0" tIns="0" bIns="0">
            <a:spAutoFit/>
          </a:bodyPr>
          <a:lstStyle/>
          <a:p>
            <a:pPr algn="ctr">
              <a:lnSpc>
                <a:spcPct val="120000"/>
              </a:lnSpc>
              <a:spcAft>
                <a:spcPts val="800"/>
              </a:spcAft>
            </a:pPr>
            <a:r>
              <a:rPr sz="4000" b="1" i="0">
                <a:solidFill>
                  <a:srgbClr val="15678A"/>
                </a:solidFill>
                <a:latin typeface="Segoe UI"/>
              </a:rPr>
              <a:t>≤ 0.12 m</a:t>
            </a:r>
          </a:p>
        </p:txBody>
      </p:sp>
      <p:sp>
        <p:nvSpPr>
          <p:cNvPr id="10" name="TextBox 9"/>
          <p:cNvSpPr txBox="1"/>
          <p:nvPr/>
        </p:nvSpPr>
        <p:spPr>
          <a:xfrm>
            <a:off x="6126480" y="2313432"/>
            <a:ext cx="274320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inter-pass co-registration,</a:t>
            </a:r>
          </a:p>
          <a:p>
            <a:pPr algn="ctr">
              <a:lnSpc>
                <a:spcPct val="120000"/>
              </a:lnSpc>
              <a:spcAft>
                <a:spcPts val="800"/>
              </a:spcAft>
            </a:pPr>
            <a:r>
              <a:rPr sz="1200" b="0" i="0">
                <a:solidFill>
                  <a:srgbClr val="5B6876"/>
                </a:solidFill>
                <a:latin typeface="Segoe UI"/>
              </a:rPr>
              <a:t>all six passes</a:t>
            </a:r>
          </a:p>
        </p:txBody>
      </p:sp>
      <p:sp>
        <p:nvSpPr>
          <p:cNvPr id="11" name="TextBox 10"/>
          <p:cNvSpPr txBox="1"/>
          <p:nvPr/>
        </p:nvSpPr>
        <p:spPr>
          <a:xfrm>
            <a:off x="8961120" y="1600200"/>
            <a:ext cx="2743200" cy="685800"/>
          </a:xfrm>
          <a:prstGeom prst="rect">
            <a:avLst/>
          </a:prstGeom>
          <a:noFill/>
        </p:spPr>
        <p:txBody>
          <a:bodyPr wrap="square" lIns="0" rIns="0" tIns="0" bIns="0">
            <a:spAutoFit/>
          </a:bodyPr>
          <a:lstStyle/>
          <a:p>
            <a:pPr algn="ctr">
              <a:lnSpc>
                <a:spcPct val="120000"/>
              </a:lnSpc>
              <a:spcAft>
                <a:spcPts val="800"/>
              </a:spcAft>
            </a:pPr>
            <a:r>
              <a:rPr sz="4000" b="1" i="0">
                <a:solidFill>
                  <a:srgbClr val="15678A"/>
                </a:solidFill>
                <a:latin typeface="Segoe UI"/>
              </a:rPr>
              <a:t>0.13 dB</a:t>
            </a:r>
          </a:p>
        </p:txBody>
      </p:sp>
      <p:sp>
        <p:nvSpPr>
          <p:cNvPr id="12" name="TextBox 11"/>
          <p:cNvSpPr txBox="1"/>
          <p:nvPr/>
        </p:nvSpPr>
        <p:spPr>
          <a:xfrm>
            <a:off x="8961120" y="2313432"/>
            <a:ext cx="274320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precision of the plot-mean γ⁰</a:t>
            </a:r>
          </a:p>
          <a:p>
            <a:pPr algn="ctr">
              <a:lnSpc>
                <a:spcPct val="120000"/>
              </a:lnSpc>
              <a:spcAft>
                <a:spcPts val="800"/>
              </a:spcAft>
            </a:pPr>
            <a:r>
              <a:rPr sz="1200" b="0" i="0">
                <a:solidFill>
                  <a:srgbClr val="5B6876"/>
                </a:solidFill>
                <a:latin typeface="Segoe UI"/>
              </a:rPr>
              <a:t>on a 0.27 ha median plot</a:t>
            </a:r>
          </a:p>
        </p:txBody>
      </p:sp>
      <p:sp>
        <p:nvSpPr>
          <p:cNvPr id="13" name="TextBox 12"/>
          <p:cNvSpPr txBox="1"/>
          <p:nvPr/>
        </p:nvSpPr>
        <p:spPr>
          <a:xfrm>
            <a:off x="731520" y="4114800"/>
            <a:ext cx="10698480" cy="2194560"/>
          </a:xfrm>
          <a:prstGeom prst="rect">
            <a:avLst/>
          </a:prstGeom>
          <a:noFill/>
        </p:spPr>
        <p:txBody>
          <a:bodyPr wrap="square" lIns="0" rIns="0" tIns="0" bIns="0">
            <a:spAutoFit/>
          </a:bodyPr>
          <a:lstStyle/>
          <a:p>
            <a:pPr algn="l">
              <a:lnSpc>
                <a:spcPct val="120000"/>
              </a:lnSpc>
              <a:spcAft>
                <a:spcPts val="800"/>
              </a:spcAft>
            </a:pPr>
            <a:r>
              <a:rPr sz="1700" b="1" i="0">
                <a:solidFill>
                  <a:srgbClr val="141B24"/>
                </a:solidFill>
                <a:latin typeface="Segoe UI"/>
              </a:rPr>
              <a:t>β⁰ = (|DN| · scale_factor)²   →   γ⁰ = β⁰ · tan θ</a:t>
            </a:r>
          </a:p>
          <a:p>
            <a:pPr algn="l">
              <a:lnSpc>
                <a:spcPct val="120000"/>
              </a:lnSpc>
              <a:spcAft>
                <a:spcPts val="800"/>
              </a:spcAft>
            </a:pPr>
          </a:p>
          <a:p>
            <a:pPr algn="l">
              <a:lnSpc>
                <a:spcPct val="120000"/>
              </a:lnSpc>
              <a:spcAft>
                <a:spcPts val="800"/>
              </a:spcAft>
            </a:pPr>
            <a:r>
              <a:rPr sz="1700" b="0" i="0">
                <a:solidFill>
                  <a:srgbClr val="141B24"/>
                </a:solidFill>
                <a:latin typeface="Segoe UI"/>
              </a:rPr>
              <a:t>γ⁰ because the six passes span 28.7°–35.2° incidence, and γ⁰ is the quantity that is, to first order, invariant to it. Local incidence is computed per range sample from the product state vectors.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A correction we made to our own work</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26 m of relief becomes 46 m of ground-range error if you assume a flat Earth</a:t>
            </a:r>
          </a:p>
        </p:txBody>
      </p:sp>
      <p:graphicFrame>
        <p:nvGraphicFramePr>
          <p:cNvPr id="5" name="Table 4"/>
          <p:cNvGraphicFramePr>
            <a:graphicFrameLocks noGrp="1"/>
          </p:cNvGraphicFramePr>
          <p:nvPr/>
        </p:nvGraphicFramePr>
        <p:xfrm>
          <a:off x="731520" y="1463040"/>
          <a:ext cx="10698478" cy="2103120"/>
        </p:xfrm>
        <a:graphic>
          <a:graphicData uri="http://schemas.openxmlformats.org/drawingml/2006/table">
            <a:tbl>
              <a:tblPr firstRow="1" bandRow="1">
                <a:tableStyleId>{5C22544A-7EE6-4342-B048-85BDC9FD1C3A}</a:tableStyleId>
              </a:tblPr>
              <a:tblGrid>
                <a:gridCol w="4692315"/>
                <a:gridCol w="2815389"/>
                <a:gridCol w="3190774"/>
              </a:tblGrid>
              <a:tr h="420624">
                <a:tc>
                  <a:txBody>
                    <a:bodyPr/>
                    <a:lstStyle/>
                    <a:p>
                      <a:pPr algn="ctr"/>
                      <a:r>
                        <a:rPr sz="1400" b="1">
                          <a:solidFill>
                            <a:srgbClr val="FFFFFF"/>
                          </a:solidFill>
                          <a:latin typeface="Segoe UI"/>
                        </a:rPr>
                        <a:t>Check</a:t>
                      </a:r>
                    </a:p>
                  </a:txBody>
                  <a:tcPr anchor="ctr">
                    <a:solidFill>
                      <a:srgbClr val="15678A"/>
                    </a:solidFill>
                  </a:tcPr>
                </a:tc>
                <a:tc>
                  <a:txBody>
                    <a:bodyPr/>
                    <a:lstStyle/>
                    <a:p>
                      <a:pPr algn="ctr"/>
                      <a:r>
                        <a:rPr sz="1400" b="1">
                          <a:solidFill>
                            <a:srgbClr val="FFFFFF"/>
                          </a:solidFill>
                          <a:latin typeface="Segoe UI"/>
                        </a:rPr>
                        <a:t>Constant height</a:t>
                      </a:r>
                    </a:p>
                  </a:txBody>
                  <a:tcPr anchor="ctr">
                    <a:solidFill>
                      <a:srgbClr val="15678A"/>
                    </a:solidFill>
                  </a:tcPr>
                </a:tc>
                <a:tc>
                  <a:txBody>
                    <a:bodyPr/>
                    <a:lstStyle/>
                    <a:p>
                      <a:pPr algn="ctr"/>
                      <a:r>
                        <a:rPr sz="1400" b="1">
                          <a:solidFill>
                            <a:srgbClr val="FFFFFF"/>
                          </a:solidFill>
                          <a:latin typeface="Segoe UI"/>
                        </a:rPr>
                        <a:t>Terrain-referenced</a:t>
                      </a:r>
                    </a:p>
                  </a:txBody>
                  <a:tcPr anchor="ctr">
                    <a:solidFill>
                      <a:srgbClr val="15678A"/>
                    </a:solidFill>
                  </a:tcPr>
                </a:tc>
              </a:tr>
              <a:tr h="420624">
                <a:tc>
                  <a:txBody>
                    <a:bodyPr/>
                    <a:lstStyle/>
                    <a:p>
                      <a:pPr algn="l"/>
                      <a:r>
                        <a:rPr sz="1600" b="1">
                          <a:solidFill>
                            <a:srgbClr val="141B24"/>
                          </a:solidFill>
                          <a:latin typeface="Segoe UI"/>
                        </a:rPr>
                        <a:t>RPC round-trip RMSE</a:t>
                      </a:r>
                    </a:p>
                  </a:txBody>
                  <a:tcPr anchor="ctr">
                    <a:solidFill>
                      <a:srgbClr val="FFFFFF"/>
                    </a:solidFill>
                  </a:tcPr>
                </a:tc>
                <a:tc>
                  <a:txBody>
                    <a:bodyPr/>
                    <a:lstStyle/>
                    <a:p>
                      <a:pPr algn="ctr"/>
                      <a:r>
                        <a:rPr sz="1600" b="1">
                          <a:solidFill>
                            <a:srgbClr val="141B24"/>
                          </a:solidFill>
                          <a:latin typeface="Segoe UI"/>
                        </a:rPr>
                        <a:t>15.1–16.6 px</a:t>
                      </a:r>
                    </a:p>
                  </a:txBody>
                  <a:tcPr anchor="ctr">
                    <a:solidFill>
                      <a:srgbClr val="FFFFFF"/>
                    </a:solidFill>
                  </a:tcPr>
                </a:tc>
                <a:tc>
                  <a:txBody>
                    <a:bodyPr/>
                    <a:lstStyle/>
                    <a:p>
                      <a:pPr algn="ctr"/>
                      <a:r>
                        <a:rPr sz="1600" b="1">
                          <a:solidFill>
                            <a:srgbClr val="141B24"/>
                          </a:solidFill>
                          <a:latin typeface="Segoe UI"/>
                        </a:rPr>
                        <a:t>4.1–4.7 px</a:t>
                      </a:r>
                    </a:p>
                  </a:txBody>
                  <a:tcPr anchor="ctr">
                    <a:solidFill>
                      <a:srgbClr val="FFFFFF"/>
                    </a:solidFill>
                  </a:tcPr>
                </a:tc>
              </a:tr>
              <a:tr h="420624">
                <a:tc>
                  <a:txBody>
                    <a:bodyPr/>
                    <a:lstStyle/>
                    <a:p>
                      <a:pPr algn="l"/>
                      <a:r>
                        <a:rPr sz="1600" b="0">
                          <a:solidFill>
                            <a:srgbClr val="141B24"/>
                          </a:solidFill>
                          <a:latin typeface="Segoe UI"/>
                        </a:rPr>
                        <a:t>Correlation vs Capella's geocoding</a:t>
                      </a:r>
                    </a:p>
                  </a:txBody>
                  <a:tcPr anchor="ctr">
                    <a:solidFill>
                      <a:srgbClr val="F1F5F7"/>
                    </a:solidFill>
                  </a:tcPr>
                </a:tc>
                <a:tc>
                  <a:txBody>
                    <a:bodyPr/>
                    <a:lstStyle/>
                    <a:p>
                      <a:pPr algn="ctr"/>
                      <a:r>
                        <a:rPr sz="1600" b="0">
                          <a:solidFill>
                            <a:srgbClr val="141B24"/>
                          </a:solidFill>
                          <a:latin typeface="Segoe UI"/>
                        </a:rPr>
                        <a:t>0.769</a:t>
                      </a:r>
                    </a:p>
                  </a:txBody>
                  <a:tcPr anchor="ctr">
                    <a:solidFill>
                      <a:srgbClr val="F1F5F7"/>
                    </a:solidFill>
                  </a:tcPr>
                </a:tc>
                <a:tc>
                  <a:txBody>
                    <a:bodyPr/>
                    <a:lstStyle/>
                    <a:p>
                      <a:pPr algn="ctr"/>
                      <a:r>
                        <a:rPr sz="1600" b="0">
                          <a:solidFill>
                            <a:srgbClr val="141B24"/>
                          </a:solidFill>
                          <a:latin typeface="Segoe UI"/>
                        </a:rPr>
                        <a:t>0.840</a:t>
                      </a:r>
                    </a:p>
                  </a:txBody>
                  <a:tcPr anchor="ctr">
                    <a:solidFill>
                      <a:srgbClr val="F1F5F7"/>
                    </a:solidFill>
                  </a:tcPr>
                </a:tc>
              </a:tr>
              <a:tr h="420624">
                <a:tc>
                  <a:txBody>
                    <a:bodyPr/>
                    <a:lstStyle/>
                    <a:p>
                      <a:pPr algn="l"/>
                      <a:r>
                        <a:rPr sz="1600" b="1">
                          <a:solidFill>
                            <a:srgbClr val="141B24"/>
                          </a:solidFill>
                          <a:latin typeface="Segoe UI"/>
                        </a:rPr>
                        <a:t>Co-registration, 29 Oct right-look</a:t>
                      </a:r>
                    </a:p>
                  </a:txBody>
                  <a:tcPr anchor="ctr">
                    <a:solidFill>
                      <a:srgbClr val="FFFFFF"/>
                    </a:solidFill>
                  </a:tcPr>
                </a:tc>
                <a:tc>
                  <a:txBody>
                    <a:bodyPr/>
                    <a:lstStyle/>
                    <a:p>
                      <a:pPr algn="ctr"/>
                      <a:r>
                        <a:rPr sz="1600" b="1">
                          <a:solidFill>
                            <a:srgbClr val="141B24"/>
                          </a:solidFill>
                          <a:latin typeface="Segoe UI"/>
                        </a:rPr>
                        <a:t>2.54 m</a:t>
                      </a:r>
                    </a:p>
                  </a:txBody>
                  <a:tcPr anchor="ctr">
                    <a:solidFill>
                      <a:srgbClr val="FFFFFF"/>
                    </a:solidFill>
                  </a:tcPr>
                </a:tc>
                <a:tc>
                  <a:txBody>
                    <a:bodyPr/>
                    <a:lstStyle/>
                    <a:p>
                      <a:pPr algn="ctr"/>
                      <a:r>
                        <a:rPr sz="1600" b="1">
                          <a:solidFill>
                            <a:srgbClr val="141B24"/>
                          </a:solidFill>
                          <a:latin typeface="Segoe UI"/>
                        </a:rPr>
                        <a:t>0.12 m</a:t>
                      </a:r>
                    </a:p>
                  </a:txBody>
                  <a:tcPr anchor="ctr">
                    <a:solidFill>
                      <a:srgbClr val="FFFFFF"/>
                    </a:solidFill>
                  </a:tcPr>
                </a:tc>
              </a:tr>
              <a:tr h="420624">
                <a:tc>
                  <a:txBody>
                    <a:bodyPr/>
                    <a:lstStyle/>
                    <a:p>
                      <a:pPr algn="l"/>
                      <a:r>
                        <a:rPr sz="1600" b="0">
                          <a:solidFill>
                            <a:srgbClr val="141B24"/>
                          </a:solidFill>
                          <a:latin typeface="Segoe UI"/>
                        </a:rPr>
                        <a:t>Passes improved</a:t>
                      </a:r>
                    </a:p>
                  </a:txBody>
                  <a:tcPr anchor="ctr">
                    <a:solidFill>
                      <a:srgbClr val="F1F5F7"/>
                    </a:solidFill>
                  </a:tcPr>
                </a:tc>
                <a:tc>
                  <a:txBody>
                    <a:bodyPr/>
                    <a:lstStyle/>
                    <a:p>
                      <a:pPr algn="ctr"/>
                      <a:r>
                        <a:rPr sz="1600" b="0">
                          <a:solidFill>
                            <a:srgbClr val="141B24"/>
                          </a:solidFill>
                          <a:latin typeface="Segoe UI"/>
                        </a:rPr>
                        <a:t>—</a:t>
                      </a:r>
                    </a:p>
                  </a:txBody>
                  <a:tcPr anchor="ctr">
                    <a:solidFill>
                      <a:srgbClr val="F1F5F7"/>
                    </a:solidFill>
                  </a:tcPr>
                </a:tc>
                <a:tc>
                  <a:txBody>
                    <a:bodyPr/>
                    <a:lstStyle/>
                    <a:p>
                      <a:pPr algn="ctr"/>
                      <a:r>
                        <a:rPr sz="1600" b="0">
                          <a:solidFill>
                            <a:srgbClr val="141B24"/>
                          </a:solidFill>
                          <a:latin typeface="Segoe UI"/>
                        </a:rPr>
                        <a:t>6 of 6</a:t>
                      </a:r>
                    </a:p>
                  </a:txBody>
                  <a:tcPr anchor="ctr">
                    <a:solidFill>
                      <a:srgbClr val="F1F5F7"/>
                    </a:solidFill>
                  </a:tcPr>
                </a:tc>
              </a:tr>
            </a:tbl>
          </a:graphicData>
        </a:graphic>
      </p:graphicFrame>
      <p:sp>
        <p:nvSpPr>
          <p:cNvPr id="6" name="TextBox 5"/>
          <p:cNvSpPr txBox="1"/>
          <p:nvPr/>
        </p:nvSpPr>
        <p:spPr>
          <a:xfrm>
            <a:off x="731520" y="3886200"/>
            <a:ext cx="10698480" cy="2377440"/>
          </a:xfrm>
          <a:prstGeom prst="rect">
            <a:avLst/>
          </a:prstGeom>
          <a:noFill/>
        </p:spPr>
        <p:txBody>
          <a:bodyPr wrap="square" lIns="0" rIns="0" tIns="0" bIns="0">
            <a:spAutoFit/>
          </a:bodyPr>
          <a:lstStyle/>
          <a:p>
            <a:pPr algn="l">
              <a:lnSpc>
                <a:spcPct val="120000"/>
              </a:lnSpc>
              <a:spcAft>
                <a:spcPts val="800"/>
              </a:spcAft>
            </a:pPr>
            <a:r>
              <a:rPr sz="1800" b="0" i="0">
                <a:solidFill>
                  <a:srgbClr val="141B24"/>
                </a:solidFill>
                <a:latin typeface="Segoe UI"/>
              </a:rPr>
              <a:t>A height error displaces </a:t>
            </a:r>
            <a:r>
              <a:rPr sz="1800" b="1" i="0">
                <a:solidFill>
                  <a:srgbClr val="141B24"/>
                </a:solidFill>
                <a:latin typeface="Segoe UI"/>
              </a:rPr>
              <a:t>opposite look directions in opposite senses</a:t>
            </a:r>
            <a:r>
              <a:rPr sz="1800" b="0" i="0">
                <a:solidFill>
                  <a:srgbClr val="141B24"/>
                </a:solidFill>
                <a:latin typeface="Segoe UI"/>
              </a:rPr>
              <a:t>. So a residual that shows up on the single right-looking pass and nowhere else is a terrain signature, not a registration failure.</a:t>
            </a:r>
          </a:p>
          <a:p>
            <a:pPr algn="l">
              <a:lnSpc>
                <a:spcPct val="120000"/>
              </a:lnSpc>
              <a:spcAft>
                <a:spcPts val="800"/>
              </a:spcAft>
            </a:pPr>
          </a:p>
          <a:p>
            <a:pPr algn="l">
              <a:lnSpc>
                <a:spcPct val="120000"/>
              </a:lnSpc>
              <a:spcAft>
                <a:spcPts val="800"/>
              </a:spcAft>
            </a:pPr>
            <a:r>
              <a:rPr sz="1800" b="1" i="0">
                <a:solidFill>
                  <a:srgbClr val="141B24"/>
                </a:solidFill>
                <a:latin typeface="Segoe UI"/>
              </a:rPr>
              <a:t>That one diagnostic is what exposed the error — and confirms the fix.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Geometry drove the design, not the formula</a:t>
            </a:r>
          </a:p>
        </p:txBody>
      </p:sp>
      <p:sp>
        <p:nvSpPr>
          <p:cNvPr id="4" name="TextBox 3"/>
          <p:cNvSpPr txBox="1"/>
          <p:nvPr/>
        </p:nvSpPr>
        <p:spPr>
          <a:xfrm>
            <a:off x="731520" y="1417320"/>
            <a:ext cx="10698480" cy="1371600"/>
          </a:xfrm>
          <a:prstGeom prst="rect">
            <a:avLst/>
          </a:prstGeom>
          <a:noFill/>
        </p:spPr>
        <p:txBody>
          <a:bodyPr wrap="square" lIns="0" rIns="0" tIns="0" bIns="0">
            <a:spAutoFit/>
          </a:bodyPr>
          <a:lstStyle/>
          <a:p>
            <a:pPr algn="l">
              <a:lnSpc>
                <a:spcPct val="120000"/>
              </a:lnSpc>
              <a:spcAft>
                <a:spcPts val="800"/>
              </a:spcAft>
            </a:pPr>
            <a:r>
              <a:rPr sz="1750" b="1" i="0">
                <a:solidFill>
                  <a:srgbClr val="141B24"/>
                </a:solidFill>
                <a:latin typeface="Segoe UI"/>
              </a:rPr>
              <a:t>1 · Every feature is a village anomaly</a:t>
            </a:r>
            <a:r>
              <a:rPr sz="1750" b="0" i="0">
                <a:solidFill>
                  <a:srgbClr val="141B24"/>
                </a:solidFill>
                <a:latin typeface="Segoe UI"/>
              </a:rPr>
              <a:t> — plot minus village median, same acquisition.</a:t>
            </a:r>
          </a:p>
          <a:p>
            <a:pPr algn="l">
              <a:lnSpc>
                <a:spcPct val="120000"/>
              </a:lnSpc>
              <a:spcAft>
                <a:spcPts val="800"/>
              </a:spcAft>
            </a:pPr>
            <a:r>
              <a:rPr sz="1750" b="0" i="0">
                <a:solidFill>
                  <a:srgbClr val="141B24"/>
                </a:solidFill>
                <a:latin typeface="Segoe UI"/>
              </a:rPr>
              <a:t>Cancels calibration, gain, incidence response, look direction, and the common soil-moisture excursion, in one step and without fitting anything.</a:t>
            </a:r>
          </a:p>
        </p:txBody>
      </p:sp>
      <p:graphicFrame>
        <p:nvGraphicFramePr>
          <p:cNvPr id="5" name="Table 4"/>
          <p:cNvGraphicFramePr>
            <a:graphicFrameLocks noGrp="1"/>
          </p:cNvGraphicFramePr>
          <p:nvPr/>
        </p:nvGraphicFramePr>
        <p:xfrm>
          <a:off x="731520" y="3063240"/>
          <a:ext cx="10698480" cy="1463040"/>
        </p:xfrm>
        <a:graphic>
          <a:graphicData uri="http://schemas.openxmlformats.org/drawingml/2006/table">
            <a:tbl>
              <a:tblPr firstRow="1" bandRow="1">
                <a:tableStyleId>{5C22544A-7EE6-4342-B048-85BDC9FD1C3A}</a:tableStyleId>
              </a:tblPr>
              <a:tblGrid>
                <a:gridCol w="2674620"/>
                <a:gridCol w="1783080"/>
                <a:gridCol w="1337310"/>
                <a:gridCol w="4903470"/>
              </a:tblGrid>
              <a:tr h="487680">
                <a:tc>
                  <a:txBody>
                    <a:bodyPr/>
                    <a:lstStyle/>
                    <a:p>
                      <a:pPr algn="ctr"/>
                      <a:r>
                        <a:rPr sz="1400" b="1">
                          <a:solidFill>
                            <a:srgbClr val="FFFFFF"/>
                          </a:solidFill>
                          <a:latin typeface="Segoe UI"/>
                        </a:rPr>
                        <a:t>Geometry-safe pair</a:t>
                      </a:r>
                    </a:p>
                  </a:txBody>
                  <a:tcPr anchor="ctr">
                    <a:solidFill>
                      <a:srgbClr val="15678A"/>
                    </a:solidFill>
                  </a:tcPr>
                </a:tc>
                <a:tc>
                  <a:txBody>
                    <a:bodyPr/>
                    <a:lstStyle/>
                    <a:p>
                      <a:pPr algn="ctr"/>
                      <a:r>
                        <a:rPr sz="1400" b="1">
                          <a:solidFill>
                            <a:srgbClr val="FFFFFF"/>
                          </a:solidFill>
                          <a:latin typeface="Segoe UI"/>
                        </a:rPr>
                        <a:t>Δ incidence</a:t>
                      </a:r>
                    </a:p>
                  </a:txBody>
                  <a:tcPr anchor="ctr">
                    <a:solidFill>
                      <a:srgbClr val="15678A"/>
                    </a:solidFill>
                  </a:tcPr>
                </a:tc>
                <a:tc>
                  <a:txBody>
                    <a:bodyPr/>
                    <a:lstStyle/>
                    <a:p>
                      <a:pPr algn="ctr"/>
                      <a:r>
                        <a:rPr sz="1400" b="1">
                          <a:solidFill>
                            <a:srgbClr val="FFFFFF"/>
                          </a:solidFill>
                          <a:latin typeface="Segoe UI"/>
                        </a:rPr>
                        <a:t>Look</a:t>
                      </a:r>
                    </a:p>
                  </a:txBody>
                  <a:tcPr anchor="ctr">
                    <a:solidFill>
                      <a:srgbClr val="15678A"/>
                    </a:solidFill>
                  </a:tcPr>
                </a:tc>
                <a:tc>
                  <a:txBody>
                    <a:bodyPr/>
                    <a:lstStyle/>
                    <a:p>
                      <a:pPr algn="ctr"/>
                      <a:r>
                        <a:rPr sz="1400" b="1">
                          <a:solidFill>
                            <a:srgbClr val="FFFFFF"/>
                          </a:solidFill>
                          <a:latin typeface="Segoe UI"/>
                        </a:rPr>
                        <a:t>Measures</a:t>
                      </a:r>
                    </a:p>
                  </a:txBody>
                  <a:tcPr anchor="ctr">
                    <a:solidFill>
                      <a:srgbClr val="15678A"/>
                    </a:solidFill>
                  </a:tcPr>
                </a:tc>
              </a:tr>
              <a:tr h="487680">
                <a:tc>
                  <a:txBody>
                    <a:bodyPr/>
                    <a:lstStyle/>
                    <a:p>
                      <a:pPr algn="l"/>
                      <a:r>
                        <a:rPr sz="1600" b="0">
                          <a:solidFill>
                            <a:srgbClr val="141B24"/>
                          </a:solidFill>
                          <a:latin typeface="Segoe UI"/>
                        </a:rPr>
                        <a:t>19 Jun → 14 Aug</a:t>
                      </a:r>
                    </a:p>
                  </a:txBody>
                  <a:tcPr anchor="ctr">
                    <a:solidFill>
                      <a:srgbClr val="FFFFFF"/>
                    </a:solidFill>
                  </a:tcPr>
                </a:tc>
                <a:tc>
                  <a:txBody>
                    <a:bodyPr/>
                    <a:lstStyle/>
                    <a:p>
                      <a:pPr algn="ctr"/>
                      <a:r>
                        <a:rPr sz="1600" b="0">
                          <a:solidFill>
                            <a:srgbClr val="141B24"/>
                          </a:solidFill>
                          <a:latin typeface="Segoe UI"/>
                        </a:rPr>
                        <a:t>0.08°</a:t>
                      </a:r>
                    </a:p>
                  </a:txBody>
                  <a:tcPr anchor="ctr">
                    <a:solidFill>
                      <a:srgbClr val="FFFFFF"/>
                    </a:solidFill>
                  </a:tcPr>
                </a:tc>
                <a:tc>
                  <a:txBody>
                    <a:bodyPr/>
                    <a:lstStyle/>
                    <a:p>
                      <a:pPr algn="ctr"/>
                      <a:r>
                        <a:rPr sz="1600" b="0">
                          <a:solidFill>
                            <a:srgbClr val="141B24"/>
                          </a:solidFill>
                          <a:latin typeface="Segoe UI"/>
                        </a:rPr>
                        <a:t>same</a:t>
                      </a:r>
                    </a:p>
                  </a:txBody>
                  <a:tcPr anchor="ctr">
                    <a:solidFill>
                      <a:srgbClr val="FFFFFF"/>
                    </a:solidFill>
                  </a:tcPr>
                </a:tc>
                <a:tc>
                  <a:txBody>
                    <a:bodyPr/>
                    <a:lstStyle/>
                    <a:p>
                      <a:pPr algn="ctr"/>
                      <a:r>
                        <a:rPr sz="1600" b="0">
                          <a:solidFill>
                            <a:srgbClr val="141B24"/>
                          </a:solidFill>
                          <a:latin typeface="Segoe UI"/>
                        </a:rPr>
                        <a:t>canopy establishment</a:t>
                      </a:r>
                    </a:p>
                  </a:txBody>
                  <a:tcPr anchor="ctr">
                    <a:solidFill>
                      <a:srgbClr val="FFFFFF"/>
                    </a:solidFill>
                  </a:tcPr>
                </a:tc>
              </a:tr>
              <a:tr h="487680">
                <a:tc>
                  <a:txBody>
                    <a:bodyPr/>
                    <a:lstStyle/>
                    <a:p>
                      <a:pPr algn="l"/>
                      <a:r>
                        <a:rPr sz="1600" b="0">
                          <a:solidFill>
                            <a:srgbClr val="141B24"/>
                          </a:solidFill>
                          <a:latin typeface="Segoe UI"/>
                        </a:rPr>
                        <a:t>13 Oct → 12 Nov</a:t>
                      </a:r>
                    </a:p>
                  </a:txBody>
                  <a:tcPr anchor="ctr">
                    <a:solidFill>
                      <a:srgbClr val="F1F5F7"/>
                    </a:solidFill>
                  </a:tcPr>
                </a:tc>
                <a:tc>
                  <a:txBody>
                    <a:bodyPr/>
                    <a:lstStyle/>
                    <a:p>
                      <a:pPr algn="ctr"/>
                      <a:r>
                        <a:rPr sz="1600" b="0">
                          <a:solidFill>
                            <a:srgbClr val="141B24"/>
                          </a:solidFill>
                          <a:latin typeface="Segoe UI"/>
                        </a:rPr>
                        <a:t>1.78°</a:t>
                      </a:r>
                    </a:p>
                  </a:txBody>
                  <a:tcPr anchor="ctr">
                    <a:solidFill>
                      <a:srgbClr val="F1F5F7"/>
                    </a:solidFill>
                  </a:tcPr>
                </a:tc>
                <a:tc>
                  <a:txBody>
                    <a:bodyPr/>
                    <a:lstStyle/>
                    <a:p>
                      <a:pPr algn="ctr"/>
                      <a:r>
                        <a:rPr sz="1600" b="0">
                          <a:solidFill>
                            <a:srgbClr val="141B24"/>
                          </a:solidFill>
                          <a:latin typeface="Segoe UI"/>
                        </a:rPr>
                        <a:t>same</a:t>
                      </a:r>
                    </a:p>
                  </a:txBody>
                  <a:tcPr anchor="ctr">
                    <a:solidFill>
                      <a:srgbClr val="F1F5F7"/>
                    </a:solidFill>
                  </a:tcPr>
                </a:tc>
                <a:tc>
                  <a:txBody>
                    <a:bodyPr/>
                    <a:lstStyle/>
                    <a:p>
                      <a:pPr algn="ctr"/>
                      <a:r>
                        <a:rPr sz="1600" b="0">
                          <a:solidFill>
                            <a:srgbClr val="141B24"/>
                          </a:solidFill>
                          <a:latin typeface="Segoe UI"/>
                        </a:rPr>
                        <a:t>late retention vs harvest — new in Round 3</a:t>
                      </a:r>
                    </a:p>
                  </a:txBody>
                  <a:tcPr anchor="ctr">
                    <a:solidFill>
                      <a:srgbClr val="F1F5F7"/>
                    </a:solidFill>
                  </a:tcPr>
                </a:tc>
              </a:tr>
            </a:tbl>
          </a:graphicData>
        </a:graphic>
      </p:graphicFrame>
      <p:sp>
        <p:nvSpPr>
          <p:cNvPr id="6" name="TextBox 5"/>
          <p:cNvSpPr txBox="1"/>
          <p:nvPr/>
        </p:nvSpPr>
        <p:spPr>
          <a:xfrm>
            <a:off x="731520" y="4892040"/>
            <a:ext cx="10698480" cy="1463040"/>
          </a:xfrm>
          <a:prstGeom prst="rect">
            <a:avLst/>
          </a:prstGeom>
          <a:noFill/>
        </p:spPr>
        <p:txBody>
          <a:bodyPr wrap="square" lIns="0" rIns="0" tIns="0" bIns="0">
            <a:spAutoFit/>
          </a:bodyPr>
          <a:lstStyle/>
          <a:p>
            <a:pPr algn="l">
              <a:lnSpc>
                <a:spcPct val="120000"/>
              </a:lnSpc>
              <a:spcAft>
                <a:spcPts val="800"/>
              </a:spcAft>
            </a:pPr>
            <a:r>
              <a:rPr sz="1750" b="1" i="0">
                <a:solidFill>
                  <a:srgbClr val="141B24"/>
                </a:solidFill>
                <a:latin typeface="Segoe UI"/>
              </a:rPr>
              <a:t>2 · Differences only between those two pairs.</a:t>
            </a:r>
            <a:r>
              <a:rPr sz="1750" b="0" i="0">
                <a:solidFill>
                  <a:srgbClr val="141B24"/>
                </a:solidFill>
                <a:latin typeface="Segoe UI"/>
              </a:rPr>
              <a:t> The 29 Oct pass is right-looking from the opposite azimuth and is used only to corroborate, never on its 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What X-band HH can and cannot do here</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Measured on this village, not assumed from the literature</a:t>
            </a:r>
          </a:p>
        </p:txBody>
      </p:sp>
      <p:sp>
        <p:nvSpPr>
          <p:cNvPr id="5" name="TextBox 4"/>
          <p:cNvSpPr txBox="1"/>
          <p:nvPr/>
        </p:nvSpPr>
        <p:spPr>
          <a:xfrm>
            <a:off x="731520" y="1554480"/>
            <a:ext cx="10698480" cy="1005840"/>
          </a:xfrm>
          <a:prstGeom prst="rect">
            <a:avLst/>
          </a:prstGeom>
          <a:noFill/>
        </p:spPr>
        <p:txBody>
          <a:bodyPr wrap="square" lIns="0" rIns="0" tIns="0" bIns="0">
            <a:spAutoFit/>
          </a:bodyPr>
          <a:lstStyle/>
          <a:p>
            <a:pPr algn="l">
              <a:lnSpc>
                <a:spcPct val="120000"/>
              </a:lnSpc>
              <a:spcAft>
                <a:spcPts val="800"/>
              </a:spcAft>
            </a:pPr>
            <a:r>
              <a:rPr sz="3000" b="1" i="0">
                <a:solidFill>
                  <a:srgbClr val="9C3529"/>
                </a:solidFill>
                <a:latin typeface="Segoe UI"/>
              </a:rPr>
              <a:t>Median Δγ⁰ at peak season  =  −0.58 dB relative to bare soil</a:t>
            </a:r>
          </a:p>
        </p:txBody>
      </p:sp>
      <p:sp>
        <p:nvSpPr>
          <p:cNvPr id="6" name="TextBox 5"/>
          <p:cNvSpPr txBox="1"/>
          <p:nvPr/>
        </p:nvSpPr>
        <p:spPr>
          <a:xfrm>
            <a:off x="731520" y="2743200"/>
            <a:ext cx="10698480" cy="3566160"/>
          </a:xfrm>
          <a:prstGeom prst="rect">
            <a:avLst/>
          </a:prstGeom>
          <a:noFill/>
        </p:spPr>
        <p:txBody>
          <a:bodyPr wrap="square" lIns="0" rIns="0" tIns="0" bIns="0">
            <a:spAutoFit/>
          </a:bodyPr>
          <a:lstStyle/>
          <a:p>
            <a:pPr algn="l">
              <a:lnSpc>
                <a:spcPct val="120000"/>
              </a:lnSpc>
              <a:spcAft>
                <a:spcPts val="800"/>
              </a:spcAft>
            </a:pPr>
            <a:r>
              <a:rPr sz="1800" b="0" i="0">
                <a:solidFill>
                  <a:srgbClr val="141B24"/>
                </a:solidFill>
                <a:latin typeface="Segoe UI"/>
              </a:rPr>
              <a:t>Peak-season fields are </a:t>
            </a:r>
            <a:r>
              <a:rPr sz="1800" b="0" i="1">
                <a:solidFill>
                  <a:srgbClr val="141B24"/>
                </a:solidFill>
                <a:latin typeface="Segoe UI"/>
              </a:rPr>
              <a:t>darker</a:t>
            </a:r>
            <a:r>
              <a:rPr sz="1800" b="0" i="0">
                <a:solidFill>
                  <a:srgbClr val="141B24"/>
                </a:solidFill>
                <a:latin typeface="Segoe UI"/>
              </a:rPr>
              <a:t> than bare ground. At HH a developed canopy attenuates a rough, freshly-tilled soil surface more than its own volume return replaces it — and X-band saturates early against LAI.</a:t>
            </a:r>
          </a:p>
          <a:p>
            <a:pPr algn="l">
              <a:lnSpc>
                <a:spcPct val="120000"/>
              </a:lnSpc>
              <a:spcAft>
                <a:spcPts val="800"/>
              </a:spcAft>
            </a:pPr>
          </a:p>
          <a:p>
            <a:pPr algn="l">
              <a:lnSpc>
                <a:spcPct val="120000"/>
              </a:lnSpc>
              <a:spcAft>
                <a:spcPts val="800"/>
              </a:spcAft>
            </a:pPr>
            <a:r>
              <a:rPr sz="1800" b="1" i="0">
                <a:solidFill>
                  <a:srgbClr val="141B24"/>
                </a:solidFill>
                <a:latin typeface="Segoe UI"/>
              </a:rPr>
              <a:t>So we do not invert X-band for biomass.</a:t>
            </a:r>
            <a:r>
              <a:rPr sz="1800" b="0" i="0">
                <a:solidFill>
                  <a:srgbClr val="141B24"/>
                </a:solidFill>
                <a:latin typeface="Segoe UI"/>
              </a:rPr>
              <a:t> We use what a metre-scale X-band series genuinely resolves: phenological </a:t>
            </a:r>
            <a:r>
              <a:rPr sz="1800" b="1" i="0">
                <a:solidFill>
                  <a:srgbClr val="141B24"/>
                </a:solidFill>
                <a:latin typeface="Segoe UI"/>
              </a:rPr>
              <a:t>timing</a:t>
            </a:r>
            <a:r>
              <a:rPr sz="1800" b="0" i="0">
                <a:solidFill>
                  <a:srgbClr val="141B24"/>
                </a:solidFill>
                <a:latin typeface="Segoe UI"/>
              </a:rPr>
              <a:t>, late-season </a:t>
            </a:r>
            <a:r>
              <a:rPr sz="1800" b="1" i="0">
                <a:solidFill>
                  <a:srgbClr val="141B24"/>
                </a:solidFill>
                <a:latin typeface="Segoe UI"/>
              </a:rPr>
              <a:t>retention</a:t>
            </a:r>
            <a:r>
              <a:rPr sz="1800" b="0" i="0">
                <a:solidFill>
                  <a:srgbClr val="141B24"/>
                </a:solidFill>
                <a:latin typeface="Segoe UI"/>
              </a:rPr>
              <a:t>, and within-field </a:t>
            </a:r>
            <a:r>
              <a:rPr sz="1800" b="1" i="0">
                <a:solidFill>
                  <a:srgbClr val="141B24"/>
                </a:solidFill>
                <a:latin typeface="Segoe UI"/>
              </a:rPr>
              <a:t>evenness</a:t>
            </a:r>
            <a:r>
              <a:rPr sz="1800" b="0" i="0">
                <a:solidFill>
                  <a:srgbClr val="141B24"/>
                </a:solidFill>
                <a:latin typeface="Segoe U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You had six SLCs — why only the amplitude?</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Because we checked, rather than assumed</a:t>
            </a:r>
          </a:p>
        </p:txBody>
      </p:sp>
      <p:graphicFrame>
        <p:nvGraphicFramePr>
          <p:cNvPr id="5" name="Table 4"/>
          <p:cNvGraphicFramePr>
            <a:graphicFrameLocks noGrp="1"/>
          </p:cNvGraphicFramePr>
          <p:nvPr/>
        </p:nvGraphicFramePr>
        <p:xfrm>
          <a:off x="731520" y="1417320"/>
          <a:ext cx="10698478" cy="1737360"/>
        </p:xfrm>
        <a:graphic>
          <a:graphicData uri="http://schemas.openxmlformats.org/drawingml/2006/table">
            <a:tbl>
              <a:tblPr firstRow="1" bandRow="1">
                <a:tableStyleId>{5C22544A-7EE6-4342-B048-85BDC9FD1C3A}</a:tableStyleId>
              </a:tblPr>
              <a:tblGrid>
                <a:gridCol w="4457700"/>
                <a:gridCol w="1248155"/>
                <a:gridCol w="4992623"/>
              </a:tblGrid>
              <a:tr h="434340">
                <a:tc>
                  <a:txBody>
                    <a:bodyPr/>
                    <a:lstStyle/>
                    <a:p>
                      <a:pPr algn="ctr"/>
                      <a:r>
                        <a:rPr sz="1400" b="1">
                          <a:solidFill>
                            <a:srgbClr val="FFFFFF"/>
                          </a:solidFill>
                          <a:latin typeface="Segoe UI"/>
                        </a:rPr>
                        <a:t>Repeat-pass InSAR — all 15 pass pairs</a:t>
                      </a:r>
                    </a:p>
                  </a:txBody>
                  <a:tcPr anchor="ctr">
                    <a:solidFill>
                      <a:srgbClr val="15678A"/>
                    </a:solidFill>
                  </a:tcPr>
                </a:tc>
                <a:tc>
                  <a:txBody>
                    <a:bodyPr/>
                    <a:lstStyle/>
                    <a:p>
                      <a:pPr algn="ctr"/>
                      <a:r>
                        <a:rPr sz="1400" b="1">
                          <a:solidFill>
                            <a:srgbClr val="FFFFFF"/>
                          </a:solidFill>
                          <a:latin typeface="Segoe UI"/>
                        </a:rPr>
                        <a:t>Pairs</a:t>
                      </a:r>
                    </a:p>
                  </a:txBody>
                  <a:tcPr anchor="ctr">
                    <a:solidFill>
                      <a:srgbClr val="15678A"/>
                    </a:solidFill>
                  </a:tcPr>
                </a:tc>
                <a:tc>
                  <a:txBody>
                    <a:bodyPr/>
                    <a:lstStyle/>
                    <a:p>
                      <a:pPr algn="ctr"/>
                      <a:r>
                        <a:rPr sz="1400" b="1">
                          <a:solidFill>
                            <a:srgbClr val="FFFFFF"/>
                          </a:solidFill>
                          <a:latin typeface="Segoe UI"/>
                        </a:rPr>
                        <a:t/>
                      </a:r>
                    </a:p>
                  </a:txBody>
                  <a:tcPr anchor="ctr">
                    <a:solidFill>
                      <a:srgbClr val="15678A"/>
                    </a:solidFill>
                  </a:tcPr>
                </a:tc>
              </a:tr>
              <a:tr h="434340">
                <a:tc>
                  <a:txBody>
                    <a:bodyPr/>
                    <a:lstStyle/>
                    <a:p>
                      <a:pPr algn="l"/>
                      <a:r>
                        <a:rPr sz="1600" b="0">
                          <a:solidFill>
                            <a:srgbClr val="141B24"/>
                          </a:solidFill>
                          <a:latin typeface="Segoe UI"/>
                        </a:rPr>
                        <a:t>Opposite look direction</a:t>
                      </a:r>
                    </a:p>
                  </a:txBody>
                  <a:tcPr anchor="ctr">
                    <a:solidFill>
                      <a:srgbClr val="FFFFFF"/>
                    </a:solidFill>
                  </a:tcPr>
                </a:tc>
                <a:tc>
                  <a:txBody>
                    <a:bodyPr/>
                    <a:lstStyle/>
                    <a:p>
                      <a:pPr algn="ctr"/>
                      <a:r>
                        <a:rPr sz="1600" b="0">
                          <a:solidFill>
                            <a:srgbClr val="141B24"/>
                          </a:solidFill>
                          <a:latin typeface="Segoe UI"/>
                        </a:rPr>
                        <a:t>5</a:t>
                      </a:r>
                    </a:p>
                  </a:txBody>
                  <a:tcPr anchor="ctr">
                    <a:solidFill>
                      <a:srgbClr val="FFFFFF"/>
                    </a:solidFill>
                  </a:tcPr>
                </a:tc>
                <a:tc>
                  <a:txBody>
                    <a:bodyPr/>
                    <a:lstStyle/>
                    <a:p>
                      <a:pPr algn="ctr"/>
                      <a:r>
                        <a:rPr sz="1600" b="0">
                          <a:solidFill>
                            <a:srgbClr val="141B24"/>
                          </a:solidFill>
                          <a:latin typeface="Segoe UI"/>
                        </a:rPr>
                        <a:t/>
                      </a:r>
                    </a:p>
                  </a:txBody>
                  <a:tcPr anchor="ctr">
                    <a:solidFill>
                      <a:srgbClr val="FFFFFF"/>
                    </a:solidFill>
                  </a:tcPr>
                </a:tc>
              </a:tr>
              <a:tr h="434340">
                <a:tc>
                  <a:txBody>
                    <a:bodyPr/>
                    <a:lstStyle/>
                    <a:p>
                      <a:pPr algn="l"/>
                      <a:r>
                        <a:rPr sz="1600" b="0">
                          <a:solidFill>
                            <a:srgbClr val="141B24"/>
                          </a:solidFill>
                          <a:latin typeface="Segoe UI"/>
                        </a:rPr>
                        <a:t>Beyond the critical baseline</a:t>
                      </a:r>
                    </a:p>
                  </a:txBody>
                  <a:tcPr anchor="ctr">
                    <a:solidFill>
                      <a:srgbClr val="F1F5F7"/>
                    </a:solidFill>
                  </a:tcPr>
                </a:tc>
                <a:tc>
                  <a:txBody>
                    <a:bodyPr/>
                    <a:lstStyle/>
                    <a:p>
                      <a:pPr algn="ctr"/>
                      <a:r>
                        <a:rPr sz="1600" b="0">
                          <a:solidFill>
                            <a:srgbClr val="141B24"/>
                          </a:solidFill>
                          <a:latin typeface="Segoe UI"/>
                        </a:rPr>
                        <a:t>9</a:t>
                      </a:r>
                    </a:p>
                  </a:txBody>
                  <a:tcPr anchor="ctr">
                    <a:solidFill>
                      <a:srgbClr val="F1F5F7"/>
                    </a:solidFill>
                  </a:tcPr>
                </a:tc>
                <a:tc>
                  <a:txBody>
                    <a:bodyPr/>
                    <a:lstStyle/>
                    <a:p>
                      <a:pPr algn="ctr"/>
                      <a:r>
                        <a:rPr sz="1600" b="0">
                          <a:solidFill>
                            <a:srgbClr val="141B24"/>
                          </a:solidFill>
                          <a:latin typeface="Segoe UI"/>
                        </a:rPr>
                        <a:t>by up to 100×</a:t>
                      </a:r>
                    </a:p>
                  </a:txBody>
                  <a:tcPr anchor="ctr">
                    <a:solidFill>
                      <a:srgbClr val="F1F5F7"/>
                    </a:solidFill>
                  </a:tcPr>
                </a:tc>
              </a:tr>
              <a:tr h="434340">
                <a:tc>
                  <a:txBody>
                    <a:bodyPr/>
                    <a:lstStyle/>
                    <a:p>
                      <a:pPr algn="l"/>
                      <a:r>
                        <a:rPr sz="1600" b="1">
                          <a:solidFill>
                            <a:srgbClr val="141B24"/>
                          </a:solidFill>
                          <a:latin typeface="Segoe UI"/>
                        </a:rPr>
                        <a:t>Geometrically viable</a:t>
                      </a:r>
                    </a:p>
                  </a:txBody>
                  <a:tcPr anchor="ctr">
                    <a:solidFill>
                      <a:srgbClr val="FFFFFF"/>
                    </a:solidFill>
                  </a:tcPr>
                </a:tc>
                <a:tc>
                  <a:txBody>
                    <a:bodyPr/>
                    <a:lstStyle/>
                    <a:p>
                      <a:pPr algn="ctr"/>
                      <a:r>
                        <a:rPr sz="1600" b="1">
                          <a:solidFill>
                            <a:srgbClr val="141B24"/>
                          </a:solidFill>
                          <a:latin typeface="Segoe UI"/>
                        </a:rPr>
                        <a:t>1</a:t>
                      </a:r>
                    </a:p>
                  </a:txBody>
                  <a:tcPr anchor="ctr">
                    <a:solidFill>
                      <a:srgbClr val="FFFFFF"/>
                    </a:solidFill>
                  </a:tcPr>
                </a:tc>
                <a:tc>
                  <a:txBody>
                    <a:bodyPr/>
                    <a:lstStyle/>
                    <a:p>
                      <a:pPr algn="ctr"/>
                      <a:r>
                        <a:rPr sz="1600" b="1">
                          <a:solidFill>
                            <a:srgbClr val="141B24"/>
                          </a:solidFill>
                          <a:latin typeface="Segoe UI"/>
                        </a:rPr>
                        <a:t>…and 56 days apart — no X-band coherence survives</a:t>
                      </a:r>
                    </a:p>
                  </a:txBody>
                  <a:tcPr anchor="ctr">
                    <a:solidFill>
                      <a:srgbClr val="FFFFFF"/>
                    </a:solidFill>
                  </a:tcPr>
                </a:tc>
              </a:tr>
            </a:tbl>
          </a:graphicData>
        </a:graphic>
      </p:graphicFrame>
      <p:sp>
        <p:nvSpPr>
          <p:cNvPr id="6" name="TextBox 5"/>
          <p:cNvSpPr txBox="1"/>
          <p:nvPr/>
        </p:nvSpPr>
        <p:spPr>
          <a:xfrm>
            <a:off x="731520" y="3429000"/>
            <a:ext cx="10698480" cy="2926080"/>
          </a:xfrm>
          <a:prstGeom prst="rect">
            <a:avLst/>
          </a:prstGeom>
          <a:noFill/>
        </p:spPr>
        <p:txBody>
          <a:bodyPr wrap="square" lIns="0" rIns="0" tIns="0" bIns="0">
            <a:spAutoFit/>
          </a:bodyPr>
          <a:lstStyle/>
          <a:p>
            <a:pPr algn="l">
              <a:lnSpc>
                <a:spcPct val="120000"/>
              </a:lnSpc>
              <a:spcAft>
                <a:spcPts val="800"/>
              </a:spcAft>
            </a:pPr>
            <a:r>
              <a:rPr sz="1700" b="1" i="0">
                <a:solidFill>
                  <a:srgbClr val="141B24"/>
                </a:solidFill>
                <a:latin typeface="Segoe UI"/>
              </a:rPr>
              <a:t>So we used the phase a different way.</a:t>
            </a:r>
            <a:r>
              <a:rPr sz="1700" b="0" i="0">
                <a:solidFill>
                  <a:srgbClr val="141B24"/>
                </a:solidFill>
                <a:latin typeface="Segoe UI"/>
              </a:rPr>
              <a:t> Sub-aperture decomposition splits one acquisition's Doppler spectrum in two — single-pass, so temporal decorrelation cannot touch it.</a:t>
            </a:r>
          </a:p>
          <a:p>
            <a:pPr algn="l">
              <a:lnSpc>
                <a:spcPct val="120000"/>
              </a:lnSpc>
              <a:spcAft>
                <a:spcPts val="800"/>
              </a:spcAft>
            </a:pPr>
          </a:p>
          <a:p>
            <a:pPr algn="l">
              <a:lnSpc>
                <a:spcPct val="120000"/>
              </a:lnSpc>
              <a:spcAft>
                <a:spcPts val="800"/>
              </a:spcAft>
            </a:pPr>
            <a:r>
              <a:rPr sz="1700" b="0" i="0">
                <a:solidFill>
                  <a:srgbClr val="141B24"/>
                </a:solidFill>
                <a:latin typeface="Segoe UI"/>
              </a:rPr>
              <a:t>The estimator is sound: point scatterers reach </a:t>
            </a:r>
            <a:r>
              <a:rPr sz="1700" b="1" i="0">
                <a:solidFill>
                  <a:srgbClr val="141B24"/>
                </a:solidFill>
                <a:latin typeface="Segoe UI"/>
              </a:rPr>
              <a:t>γ = 0.98</a:t>
            </a:r>
            <a:r>
              <a:rPr sz="1700" b="0" i="0">
                <a:solidFill>
                  <a:srgbClr val="141B24"/>
                </a:solidFill>
                <a:latin typeface="Segoe UI"/>
              </a:rPr>
              <a:t> against </a:t>
            </a:r>
            <a:r>
              <a:rPr sz="1700" b="1" i="0">
                <a:solidFill>
                  <a:srgbClr val="141B24"/>
                </a:solidFill>
                <a:latin typeface="Segoe UI"/>
              </a:rPr>
              <a:t>0.25</a:t>
            </a:r>
            <a:r>
              <a:rPr sz="1700" b="0" i="0">
                <a:solidFill>
                  <a:srgbClr val="141B24"/>
                </a:solidFill>
                <a:latin typeface="Segoe UI"/>
              </a:rPr>
              <a:t> for distributed clutter. But at plot level it carries nothing — repeatability </a:t>
            </a:r>
            <a:r>
              <a:rPr sz="1700" b="1" i="0">
                <a:solidFill>
                  <a:srgbClr val="141B24"/>
                </a:solidFill>
                <a:latin typeface="Segoe UI"/>
              </a:rPr>
              <a:t>r = 0.02</a:t>
            </a:r>
            <a:r>
              <a:rPr sz="1700" b="0" i="0">
                <a:solidFill>
                  <a:srgbClr val="141B24"/>
                </a:solidFill>
                <a:latin typeface="Segoe UI"/>
              </a:rPr>
              <a:t>, crop separation </a:t>
            </a:r>
            <a:r>
              <a:rPr sz="1700" b="1" i="0">
                <a:solidFill>
                  <a:srgbClr val="141B24"/>
                </a:solidFill>
                <a:latin typeface="Segoe UI"/>
              </a:rPr>
              <a:t>η² = 0.02</a:t>
            </a:r>
            <a:r>
              <a:rPr sz="1700" b="0" i="0">
                <a:solidFill>
                  <a:srgbClr val="141B24"/>
                </a:solidFill>
                <a:latin typeface="Segoe UI"/>
              </a:rPr>
              <a:t>.</a:t>
            </a:r>
          </a:p>
          <a:p>
            <a:pPr algn="l">
              <a:lnSpc>
                <a:spcPct val="120000"/>
              </a:lnSpc>
              <a:spcAft>
                <a:spcPts val="800"/>
              </a:spcAft>
            </a:pPr>
          </a:p>
          <a:p>
            <a:pPr algn="l">
              <a:lnSpc>
                <a:spcPct val="120000"/>
              </a:lnSpc>
              <a:spcAft>
                <a:spcPts val="800"/>
              </a:spcAft>
            </a:pPr>
            <a:r>
              <a:rPr sz="1700" b="1" i="0">
                <a:solidFill>
                  <a:srgbClr val="141B24"/>
                </a:solidFill>
                <a:latin typeface="Segoe UI"/>
              </a:rPr>
              <a:t>A null result, reported as a null.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The forecast model</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SAR sets the ranking and the spread. Official statistics set the level. Stated, not hidden.</a:t>
            </a:r>
          </a:p>
        </p:txBody>
      </p:sp>
      <p:sp>
        <p:nvSpPr>
          <p:cNvPr id="5" name="Rectangle 4"/>
          <p:cNvSpPr/>
          <p:nvPr/>
        </p:nvSpPr>
        <p:spPr>
          <a:xfrm>
            <a:off x="731520" y="1417320"/>
            <a:ext cx="10698480"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64208"/>
            <a:ext cx="10424160" cy="640080"/>
          </a:xfrm>
          <a:prstGeom prst="rect">
            <a:avLst/>
          </a:prstGeom>
          <a:noFill/>
        </p:spPr>
        <p:txBody>
          <a:bodyPr wrap="square" lIns="0" rIns="0" tIns="0" bIns="0">
            <a:spAutoFit/>
          </a:bodyPr>
          <a:lstStyle/>
          <a:p>
            <a:pPr algn="ctr">
              <a:lnSpc>
                <a:spcPct val="120000"/>
              </a:lnSpc>
              <a:spcAft>
                <a:spcPts val="800"/>
              </a:spcAft>
            </a:pPr>
            <a:r>
              <a:rPr sz="2700" b="1" i="0">
                <a:solidFill>
                  <a:srgbClr val="15678A"/>
                </a:solidFill>
                <a:latin typeface="Segoe UI"/>
              </a:rPr>
              <a:t>Y_p  =  Y_ref(c) · S(c) · exp( σ_c · ρ · z_p  −  ½(σ_c · ρ)² )</a:t>
            </a:r>
          </a:p>
        </p:txBody>
      </p:sp>
      <p:graphicFrame>
        <p:nvGraphicFramePr>
          <p:cNvPr id="7" name="Table 6"/>
          <p:cNvGraphicFramePr>
            <a:graphicFrameLocks noGrp="1"/>
          </p:cNvGraphicFramePr>
          <p:nvPr/>
        </p:nvGraphicFramePr>
        <p:xfrm>
          <a:off x="731520" y="2697480"/>
          <a:ext cx="10698479" cy="2011680"/>
        </p:xfrm>
        <a:graphic>
          <a:graphicData uri="http://schemas.openxmlformats.org/drawingml/2006/table">
            <a:tbl>
              <a:tblPr firstRow="1" bandRow="1">
                <a:tableStyleId>{5C22544A-7EE6-4342-B048-85BDC9FD1C3A}</a:tableStyleId>
              </a:tblPr>
              <a:tblGrid>
                <a:gridCol w="1358537"/>
                <a:gridCol w="4245428"/>
                <a:gridCol w="5094514"/>
              </a:tblGrid>
              <a:tr h="402336">
                <a:tc>
                  <a:txBody>
                    <a:bodyPr/>
                    <a:lstStyle/>
                    <a:p>
                      <a:pPr algn="ctr"/>
                      <a:r>
                        <a:rPr sz="1300" b="1">
                          <a:solidFill>
                            <a:srgbClr val="FFFFFF"/>
                          </a:solidFill>
                          <a:latin typeface="Segoe UI"/>
                        </a:rPr>
                        <a:t>Term</a:t>
                      </a:r>
                    </a:p>
                  </a:txBody>
                  <a:tcPr anchor="ctr">
                    <a:solidFill>
                      <a:srgbClr val="15678A"/>
                    </a:solidFill>
                  </a:tcPr>
                </a:tc>
                <a:tc>
                  <a:txBody>
                    <a:bodyPr/>
                    <a:lstStyle/>
                    <a:p>
                      <a:pPr algn="ctr"/>
                      <a:r>
                        <a:rPr sz="1300" b="1">
                          <a:solidFill>
                            <a:srgbClr val="FFFFFF"/>
                          </a:solidFill>
                          <a:latin typeface="Segoe UI"/>
                        </a:rPr>
                        <a:t>What it is</a:t>
                      </a:r>
                    </a:p>
                  </a:txBody>
                  <a:tcPr anchor="ctr">
                    <a:solidFill>
                      <a:srgbClr val="15678A"/>
                    </a:solidFill>
                  </a:tcPr>
                </a:tc>
                <a:tc>
                  <a:txBody>
                    <a:bodyPr/>
                    <a:lstStyle/>
                    <a:p>
                      <a:pPr algn="ctr"/>
                      <a:r>
                        <a:rPr sz="1300" b="1">
                          <a:solidFill>
                            <a:srgbClr val="FFFFFF"/>
                          </a:solidFill>
                          <a:latin typeface="Segoe UI"/>
                        </a:rPr>
                        <a:t>Value</a:t>
                      </a:r>
                    </a:p>
                  </a:txBody>
                  <a:tcPr anchor="ctr">
                    <a:solidFill>
                      <a:srgbClr val="15678A"/>
                    </a:solidFill>
                  </a:tcPr>
                </a:tc>
              </a:tr>
              <a:tr h="402336">
                <a:tc>
                  <a:txBody>
                    <a:bodyPr/>
                    <a:lstStyle/>
                    <a:p>
                      <a:pPr algn="l"/>
                      <a:r>
                        <a:rPr sz="1350" b="0">
                          <a:solidFill>
                            <a:srgbClr val="141B24"/>
                          </a:solidFill>
                          <a:latin typeface="Segoe UI"/>
                        </a:rPr>
                        <a:t>Y_ref(c)</a:t>
                      </a:r>
                    </a:p>
                  </a:txBody>
                  <a:tcPr anchor="ctr">
                    <a:solidFill>
                      <a:srgbClr val="FFFFFF"/>
                    </a:solidFill>
                  </a:tcPr>
                </a:tc>
                <a:tc>
                  <a:txBody>
                    <a:bodyPr/>
                    <a:lstStyle/>
                    <a:p>
                      <a:pPr algn="ctr"/>
                      <a:r>
                        <a:rPr sz="1350" b="0">
                          <a:solidFill>
                            <a:srgbClr val="141B24"/>
                          </a:solidFill>
                          <a:latin typeface="Segoe UI"/>
                        </a:rPr>
                        <a:t>Vadodara district yield (DoA Gujarat 2022-23)</a:t>
                      </a:r>
                    </a:p>
                  </a:txBody>
                  <a:tcPr anchor="ctr">
                    <a:solidFill>
                      <a:srgbClr val="FFFFFF"/>
                    </a:solidFill>
                  </a:tcPr>
                </a:tc>
                <a:tc>
                  <a:txBody>
                    <a:bodyPr/>
                    <a:lstStyle/>
                    <a:p>
                      <a:pPr algn="ctr"/>
                      <a:r>
                        <a:rPr sz="1350" b="0">
                          <a:solidFill>
                            <a:srgbClr val="141B24"/>
                          </a:solidFill>
                          <a:latin typeface="Segoe UI"/>
                        </a:rPr>
                        <a:t>rice 1690 · cotton 776 · maize 2312 · bajra 2714 · groundnut 2514</a:t>
                      </a:r>
                    </a:p>
                  </a:txBody>
                  <a:tcPr anchor="ctr">
                    <a:solidFill>
                      <a:srgbClr val="FFFFFF"/>
                    </a:solidFill>
                  </a:tcPr>
                </a:tc>
              </a:tr>
              <a:tr h="402336">
                <a:tc>
                  <a:txBody>
                    <a:bodyPr/>
                    <a:lstStyle/>
                    <a:p>
                      <a:pPr algn="l"/>
                      <a:r>
                        <a:rPr sz="1350" b="0">
                          <a:solidFill>
                            <a:srgbClr val="141B24"/>
                          </a:solidFill>
                          <a:latin typeface="Segoe UI"/>
                        </a:rPr>
                        <a:t>S(c)</a:t>
                      </a:r>
                    </a:p>
                  </a:txBody>
                  <a:tcPr anchor="ctr">
                    <a:solidFill>
                      <a:srgbClr val="F1F5F7"/>
                    </a:solidFill>
                  </a:tcPr>
                </a:tc>
                <a:tc>
                  <a:txBody>
                    <a:bodyPr/>
                    <a:lstStyle/>
                    <a:p>
                      <a:pPr algn="ctr"/>
                      <a:r>
                        <a:rPr sz="1350" b="0">
                          <a:solidFill>
                            <a:srgbClr val="141B24"/>
                          </a:solidFill>
                          <a:latin typeface="Segoe UI"/>
                        </a:rPr>
                        <a:t>2025 season factor from the +16% rainfall anomaly</a:t>
                      </a:r>
                    </a:p>
                  </a:txBody>
                  <a:tcPr anchor="ctr">
                    <a:solidFill>
                      <a:srgbClr val="F1F5F7"/>
                    </a:solidFill>
                  </a:tcPr>
                </a:tc>
                <a:tc>
                  <a:txBody>
                    <a:bodyPr/>
                    <a:lstStyle/>
                    <a:p>
                      <a:pPr algn="ctr"/>
                      <a:r>
                        <a:rPr sz="1350" b="0">
                          <a:solidFill>
                            <a:srgbClr val="141B24"/>
                          </a:solidFill>
                          <a:latin typeface="Segoe UI"/>
                        </a:rPr>
                        <a:t>0.976 – 1.080, crop-specific</a:t>
                      </a:r>
                    </a:p>
                  </a:txBody>
                  <a:tcPr anchor="ctr">
                    <a:solidFill>
                      <a:srgbClr val="F1F5F7"/>
                    </a:solidFill>
                  </a:tcPr>
                </a:tc>
              </a:tr>
              <a:tr h="402336">
                <a:tc>
                  <a:txBody>
                    <a:bodyPr/>
                    <a:lstStyle/>
                    <a:p>
                      <a:pPr algn="l"/>
                      <a:r>
                        <a:rPr sz="1350" b="0">
                          <a:solidFill>
                            <a:srgbClr val="141B24"/>
                          </a:solidFill>
                          <a:latin typeface="Segoe UI"/>
                        </a:rPr>
                        <a:t>z_p</a:t>
                      </a:r>
                    </a:p>
                  </a:txBody>
                  <a:tcPr anchor="ctr">
                    <a:solidFill>
                      <a:srgbClr val="FFFFFF"/>
                    </a:solidFill>
                  </a:tcPr>
                </a:tc>
                <a:tc>
                  <a:txBody>
                    <a:bodyPr/>
                    <a:lstStyle/>
                    <a:p>
                      <a:pPr algn="ctr"/>
                      <a:r>
                        <a:rPr sz="1350" b="0">
                          <a:solidFill>
                            <a:srgbClr val="141B24"/>
                          </a:solidFill>
                          <a:latin typeface="Segoe UI"/>
                        </a:rPr>
                        <a:t>stage-weighted SAR index, standardised within crop</a:t>
                      </a:r>
                    </a:p>
                  </a:txBody>
                  <a:tcPr anchor="ctr">
                    <a:solidFill>
                      <a:srgbClr val="FFFFFF"/>
                    </a:solidFill>
                  </a:tcPr>
                </a:tc>
                <a:tc>
                  <a:txBody>
                    <a:bodyPr/>
                    <a:lstStyle/>
                    <a:p>
                      <a:pPr algn="ctr"/>
                      <a:r>
                        <a:rPr sz="1350" b="0">
                          <a:solidFill>
                            <a:srgbClr val="141B24"/>
                          </a:solidFill>
                          <a:latin typeface="Segoe UI"/>
                        </a:rPr>
                        <a:t>establishment · Oct canopy · Nov retention · evenness</a:t>
                      </a:r>
                    </a:p>
                  </a:txBody>
                  <a:tcPr anchor="ctr">
                    <a:solidFill>
                      <a:srgbClr val="FFFFFF"/>
                    </a:solidFill>
                  </a:tcPr>
                </a:tc>
              </a:tr>
              <a:tr h="402336">
                <a:tc>
                  <a:txBody>
                    <a:bodyPr/>
                    <a:lstStyle/>
                    <a:p>
                      <a:pPr algn="l"/>
                      <a:r>
                        <a:rPr sz="1350" b="0">
                          <a:solidFill>
                            <a:srgbClr val="141B24"/>
                          </a:solidFill>
                          <a:latin typeface="Segoe UI"/>
                        </a:rPr>
                        <a:t>σ_c , ρ</a:t>
                      </a:r>
                    </a:p>
                  </a:txBody>
                  <a:tcPr anchor="ctr">
                    <a:solidFill>
                      <a:srgbClr val="F1F5F7"/>
                    </a:solidFill>
                  </a:tcPr>
                </a:tc>
                <a:tc>
                  <a:txBody>
                    <a:bodyPr/>
                    <a:lstStyle/>
                    <a:p>
                      <a:pPr algn="ctr"/>
                      <a:r>
                        <a:rPr sz="1350" b="0">
                          <a:solidFill>
                            <a:srgbClr val="141B24"/>
                          </a:solidFill>
                          <a:latin typeface="Segoe UI"/>
                        </a:rPr>
                        <a:t>farm-to-farm yield CV, and the share of it SAR explains</a:t>
                      </a:r>
                    </a:p>
                  </a:txBody>
                  <a:tcPr anchor="ctr">
                    <a:solidFill>
                      <a:srgbClr val="F1F5F7"/>
                    </a:solidFill>
                  </a:tcPr>
                </a:tc>
                <a:tc>
                  <a:txBody>
                    <a:bodyPr/>
                    <a:lstStyle/>
                    <a:p>
                      <a:pPr algn="ctr"/>
                      <a:r>
                        <a:rPr sz="1350" b="0">
                          <a:solidFill>
                            <a:srgbClr val="141B24"/>
                          </a:solidFill>
                          <a:latin typeface="Segoe UI"/>
                        </a:rPr>
                        <a:t>0.28–0.35   ·   ρ = 0.55 (varied 0.40–0.70)</a:t>
                      </a:r>
                    </a:p>
                  </a:txBody>
                  <a:tcPr anchor="ctr">
                    <a:solidFill>
                      <a:srgbClr val="F1F5F7"/>
                    </a:solidFill>
                  </a:tcPr>
                </a:tc>
              </a:tr>
            </a:tbl>
          </a:graphicData>
        </a:graphic>
      </p:graphicFrame>
      <p:sp>
        <p:nvSpPr>
          <p:cNvPr id="8" name="TextBox 7"/>
          <p:cNvSpPr txBox="1"/>
          <p:nvPr/>
        </p:nvSpPr>
        <p:spPr>
          <a:xfrm>
            <a:off x="731520" y="4937760"/>
            <a:ext cx="10698480" cy="1463040"/>
          </a:xfrm>
          <a:prstGeom prst="rect">
            <a:avLst/>
          </a:prstGeom>
          <a:noFill/>
        </p:spPr>
        <p:txBody>
          <a:bodyPr wrap="square" lIns="0" rIns="0" tIns="0" bIns="0">
            <a:spAutoFit/>
          </a:bodyPr>
          <a:lstStyle/>
          <a:p>
            <a:pPr algn="l">
              <a:lnSpc>
                <a:spcPct val="120000"/>
              </a:lnSpc>
              <a:spcAft>
                <a:spcPts val="800"/>
              </a:spcAft>
            </a:pPr>
            <a:r>
              <a:rPr sz="1650" b="0" i="0">
                <a:solidFill>
                  <a:srgbClr val="141B24"/>
                </a:solidFill>
                <a:latin typeface="Segoe UI"/>
              </a:rPr>
              <a:t>The lognormal form makes the </a:t>
            </a:r>
            <a:r>
              <a:rPr sz="1650" b="1" i="0">
                <a:solidFill>
                  <a:srgbClr val="141B24"/>
                </a:solidFill>
                <a:latin typeface="Segoe UI"/>
              </a:rPr>
              <a:t>area-weighted village mean reproduce Y_ref · S by construction</a:t>
            </a:r>
            <a:r>
              <a:rPr sz="1650" b="0" i="0">
                <a:solidFill>
                  <a:srgbClr val="141B24"/>
                </a:solidFill>
                <a:latin typeface="Segoe UI"/>
              </a:rPr>
              <a:t>. Cotton adds an explicit late-picking term — the one genuine forecast in the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Crop labels: an honest negative result</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We re-derived the map from six passes. It was worse. So we did not use it.</a:t>
            </a:r>
          </a:p>
        </p:txBody>
      </p:sp>
      <p:graphicFrame>
        <p:nvGraphicFramePr>
          <p:cNvPr id="5" name="Table 4"/>
          <p:cNvGraphicFramePr>
            <a:graphicFrameLocks noGrp="1"/>
          </p:cNvGraphicFramePr>
          <p:nvPr/>
        </p:nvGraphicFramePr>
        <p:xfrm>
          <a:off x="731520" y="1463040"/>
          <a:ext cx="10698480" cy="1554480"/>
        </p:xfrm>
        <a:graphic>
          <a:graphicData uri="http://schemas.openxmlformats.org/drawingml/2006/table">
            <a:tbl>
              <a:tblPr firstRow="1" bandRow="1">
                <a:tableStyleId>{5C22544A-7EE6-4342-B048-85BDC9FD1C3A}</a:tableStyleId>
              </a:tblPr>
              <a:tblGrid>
                <a:gridCol w="4572000"/>
                <a:gridCol w="2103120"/>
                <a:gridCol w="2103120"/>
                <a:gridCol w="1920240"/>
              </a:tblGrid>
              <a:tr h="518160">
                <a:tc>
                  <a:txBody>
                    <a:bodyPr/>
                    <a:lstStyle/>
                    <a:p>
                      <a:pPr algn="ctr"/>
                      <a:r>
                        <a:rPr sz="1400" b="1">
                          <a:solidFill>
                            <a:srgbClr val="FFFFFF"/>
                          </a:solidFill>
                          <a:latin typeface="Segoe UI"/>
                        </a:rPr>
                        <a:t>Label set</a:t>
                      </a:r>
                    </a:p>
                  </a:txBody>
                  <a:tcPr anchor="ctr">
                    <a:solidFill>
                      <a:srgbClr val="15678A"/>
                    </a:solidFill>
                  </a:tcPr>
                </a:tc>
                <a:tc>
                  <a:txBody>
                    <a:bodyPr/>
                    <a:lstStyle/>
                    <a:p>
                      <a:pPr algn="ctr"/>
                      <a:r>
                        <a:rPr sz="1400" b="1">
                          <a:solidFill>
                            <a:srgbClr val="FFFFFF"/>
                          </a:solidFill>
                          <a:latin typeface="Segoe UI"/>
                        </a:rPr>
                        <a:t>η² · 12 Nov NDVI</a:t>
                      </a:r>
                    </a:p>
                  </a:txBody>
                  <a:tcPr anchor="ctr">
                    <a:solidFill>
                      <a:srgbClr val="15678A"/>
                    </a:solidFill>
                  </a:tcPr>
                </a:tc>
                <a:tc>
                  <a:txBody>
                    <a:bodyPr/>
                    <a:lstStyle/>
                    <a:p>
                      <a:pPr algn="ctr"/>
                      <a:r>
                        <a:rPr sz="1400" b="1">
                          <a:solidFill>
                            <a:srgbClr val="FFFFFF"/>
                          </a:solidFill>
                          <a:latin typeface="Segoe UI"/>
                        </a:rPr>
                        <a:t>η² · 13 Oct NDVI</a:t>
                      </a:r>
                    </a:p>
                  </a:txBody>
                  <a:tcPr anchor="ctr">
                    <a:solidFill>
                      <a:srgbClr val="15678A"/>
                    </a:solidFill>
                  </a:tcPr>
                </a:tc>
                <a:tc>
                  <a:txBody>
                    <a:bodyPr/>
                    <a:lstStyle/>
                    <a:p>
                      <a:pPr algn="ctr"/>
                      <a:r>
                        <a:rPr sz="1400" b="1">
                          <a:solidFill>
                            <a:srgbClr val="FFFFFF"/>
                          </a:solidFill>
                          <a:latin typeface="Segoe UI"/>
                        </a:rPr>
                        <a:t>Adopted</a:t>
                      </a:r>
                    </a:p>
                  </a:txBody>
                  <a:tcPr anchor="ctr">
                    <a:solidFill>
                      <a:srgbClr val="15678A"/>
                    </a:solidFill>
                  </a:tcPr>
                </a:tc>
              </a:tr>
              <a:tr h="518160">
                <a:tc>
                  <a:txBody>
                    <a:bodyPr/>
                    <a:lstStyle/>
                    <a:p>
                      <a:pPr algn="l"/>
                      <a:r>
                        <a:rPr sz="1700" b="1">
                          <a:solidFill>
                            <a:srgbClr val="141B24"/>
                          </a:solidFill>
                          <a:latin typeface="Segoe UI"/>
                        </a:rPr>
                        <a:t>Round-1/2 carry-forward (4 passes)</a:t>
                      </a:r>
                    </a:p>
                  </a:txBody>
                  <a:tcPr anchor="ctr">
                    <a:solidFill>
                      <a:srgbClr val="FFFFFF"/>
                    </a:solidFill>
                  </a:tcPr>
                </a:tc>
                <a:tc>
                  <a:txBody>
                    <a:bodyPr/>
                    <a:lstStyle/>
                    <a:p>
                      <a:pPr algn="ctr"/>
                      <a:r>
                        <a:rPr sz="1700" b="1">
                          <a:solidFill>
                            <a:srgbClr val="141B24"/>
                          </a:solidFill>
                          <a:latin typeface="Segoe UI"/>
                        </a:rPr>
                        <a:t>0.138</a:t>
                      </a:r>
                    </a:p>
                  </a:txBody>
                  <a:tcPr anchor="ctr">
                    <a:solidFill>
                      <a:srgbClr val="FFFFFF"/>
                    </a:solidFill>
                  </a:tcPr>
                </a:tc>
                <a:tc>
                  <a:txBody>
                    <a:bodyPr/>
                    <a:lstStyle/>
                    <a:p>
                      <a:pPr algn="ctr"/>
                      <a:r>
                        <a:rPr sz="1700" b="1">
                          <a:solidFill>
                            <a:srgbClr val="141B24"/>
                          </a:solidFill>
                          <a:latin typeface="Segoe UI"/>
                        </a:rPr>
                        <a:t>0.280</a:t>
                      </a:r>
                    </a:p>
                  </a:txBody>
                  <a:tcPr anchor="ctr">
                    <a:solidFill>
                      <a:srgbClr val="FFFFFF"/>
                    </a:solidFill>
                  </a:tcPr>
                </a:tc>
                <a:tc>
                  <a:txBody>
                    <a:bodyPr/>
                    <a:lstStyle/>
                    <a:p>
                      <a:pPr algn="ctr"/>
                      <a:r>
                        <a:rPr sz="1700" b="1">
                          <a:solidFill>
                            <a:srgbClr val="141B24"/>
                          </a:solidFill>
                          <a:latin typeface="Segoe UI"/>
                        </a:rPr>
                        <a:t>YES — primary</a:t>
                      </a:r>
                    </a:p>
                  </a:txBody>
                  <a:tcPr anchor="ctr">
                    <a:solidFill>
                      <a:srgbClr val="FFFFFF"/>
                    </a:solidFill>
                  </a:tcPr>
                </a:tc>
              </a:tr>
              <a:tr h="518160">
                <a:tc>
                  <a:txBody>
                    <a:bodyPr/>
                    <a:lstStyle/>
                    <a:p>
                      <a:pPr algn="l"/>
                      <a:r>
                        <a:rPr sz="1700" b="0">
                          <a:solidFill>
                            <a:srgbClr val="141B24"/>
                          </a:solidFill>
                          <a:latin typeface="Segoe UI"/>
                        </a:rPr>
                        <a:t>Our Round-3 re-derivation (6 passes)</a:t>
                      </a:r>
                    </a:p>
                  </a:txBody>
                  <a:tcPr anchor="ctr">
                    <a:solidFill>
                      <a:srgbClr val="F1F5F7"/>
                    </a:solidFill>
                  </a:tcPr>
                </a:tc>
                <a:tc>
                  <a:txBody>
                    <a:bodyPr/>
                    <a:lstStyle/>
                    <a:p>
                      <a:pPr algn="ctr"/>
                      <a:r>
                        <a:rPr sz="1700" b="0">
                          <a:solidFill>
                            <a:srgbClr val="141B24"/>
                          </a:solidFill>
                          <a:latin typeface="Segoe UI"/>
                        </a:rPr>
                        <a:t>0.085</a:t>
                      </a:r>
                    </a:p>
                  </a:txBody>
                  <a:tcPr anchor="ctr">
                    <a:solidFill>
                      <a:srgbClr val="F1F5F7"/>
                    </a:solidFill>
                  </a:tcPr>
                </a:tc>
                <a:tc>
                  <a:txBody>
                    <a:bodyPr/>
                    <a:lstStyle/>
                    <a:p>
                      <a:pPr algn="ctr"/>
                      <a:r>
                        <a:rPr sz="1700" b="0">
                          <a:solidFill>
                            <a:srgbClr val="141B24"/>
                          </a:solidFill>
                          <a:latin typeface="Segoe UI"/>
                        </a:rPr>
                        <a:t>0.217</a:t>
                      </a:r>
                    </a:p>
                  </a:txBody>
                  <a:tcPr anchor="ctr">
                    <a:solidFill>
                      <a:srgbClr val="F1F5F7"/>
                    </a:solidFill>
                  </a:tcPr>
                </a:tc>
                <a:tc>
                  <a:txBody>
                    <a:bodyPr/>
                    <a:lstStyle/>
                    <a:p>
                      <a:pPr algn="ctr"/>
                      <a:r>
                        <a:rPr sz="1700" b="0">
                          <a:solidFill>
                            <a:srgbClr val="141B24"/>
                          </a:solidFill>
                          <a:latin typeface="Segoe UI"/>
                        </a:rPr>
                        <a:t>no</a:t>
                      </a:r>
                    </a:p>
                  </a:txBody>
                  <a:tcPr anchor="ctr">
                    <a:solidFill>
                      <a:srgbClr val="F1F5F7"/>
                    </a:solidFill>
                  </a:tcPr>
                </a:tc>
              </a:tr>
            </a:tbl>
          </a:graphicData>
        </a:graphic>
      </p:graphicFrame>
      <p:sp>
        <p:nvSpPr>
          <p:cNvPr id="6" name="TextBox 5"/>
          <p:cNvSpPr txBox="1"/>
          <p:nvPr/>
        </p:nvSpPr>
        <p:spPr>
          <a:xfrm>
            <a:off x="731520" y="3383280"/>
            <a:ext cx="10698480" cy="2926080"/>
          </a:xfrm>
          <a:prstGeom prst="rect">
            <a:avLst/>
          </a:prstGeom>
          <a:noFill/>
        </p:spPr>
        <p:txBody>
          <a:bodyPr wrap="square" lIns="0" rIns="0" tIns="0" bIns="0">
            <a:spAutoFit/>
          </a:bodyPr>
          <a:lstStyle/>
          <a:p>
            <a:pPr algn="l">
              <a:lnSpc>
                <a:spcPct val="120000"/>
              </a:lnSpc>
              <a:spcAft>
                <a:spcPts val="800"/>
              </a:spcAft>
            </a:pPr>
            <a:r>
              <a:rPr sz="1800" b="0" i="0">
                <a:solidFill>
                  <a:srgbClr val="141B24"/>
                </a:solidFill>
                <a:latin typeface="Segoe UI"/>
              </a:rPr>
              <a:t>The two sets agree on only </a:t>
            </a:r>
            <a:r>
              <a:rPr sz="1800" b="1" i="0">
                <a:solidFill>
                  <a:srgbClr val="141B24"/>
                </a:solidFill>
                <a:latin typeface="Segoe UI"/>
              </a:rPr>
              <a:t>46%</a:t>
            </a:r>
            <a:r>
              <a:rPr sz="1800" b="0" i="0">
                <a:solidFill>
                  <a:srgbClr val="141B24"/>
                </a:solidFill>
                <a:latin typeface="Segoe UI"/>
              </a:rPr>
              <a:t> of observed plots. Adjudicated on data neither had seen, the carry-forward wins on both dates.</a:t>
            </a:r>
          </a:p>
          <a:p>
            <a:pPr algn="l">
              <a:lnSpc>
                <a:spcPct val="120000"/>
              </a:lnSpc>
              <a:spcAft>
                <a:spcPts val="800"/>
              </a:spcAft>
            </a:pPr>
          </a:p>
          <a:p>
            <a:pPr algn="l">
              <a:lnSpc>
                <a:spcPct val="120000"/>
              </a:lnSpc>
              <a:spcAft>
                <a:spcPts val="800"/>
              </a:spcAft>
            </a:pPr>
            <a:r>
              <a:rPr sz="1800" b="1" i="0">
                <a:solidFill>
                  <a:srgbClr val="141B24"/>
                </a:solidFill>
                <a:latin typeface="Segoe UI"/>
              </a:rPr>
              <a:t>The disagreement is not discarded — it becomes a measured label uncertainty</a:t>
            </a:r>
            <a:r>
              <a:rPr sz="1800" b="0" i="0">
                <a:solidFill>
                  <a:srgbClr val="141B24"/>
                </a:solidFill>
                <a:latin typeface="Segoe UI"/>
              </a:rPr>
              <a:t>, carried through to the village result.</a:t>
            </a:r>
          </a:p>
          <a:p>
            <a:pPr algn="l">
              <a:lnSpc>
                <a:spcPct val="120000"/>
              </a:lnSpc>
              <a:spcAft>
                <a:spcPts val="800"/>
              </a:spcAft>
            </a:pPr>
          </a:p>
          <a:p>
            <a:pPr algn="l">
              <a:lnSpc>
                <a:spcPct val="120000"/>
              </a:lnSpc>
              <a:spcAft>
                <a:spcPts val="800"/>
              </a:spcAft>
            </a:pPr>
            <a:r>
              <a:rPr sz="1800" b="1" i="0">
                <a:solidFill>
                  <a:srgbClr val="141B24"/>
                </a:solidFill>
                <a:latin typeface="Segoe UI"/>
              </a:rPr>
              <a:t>Crop labelling, not the radar, is the dominant uncertainty 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The index works exactly where the crop is still standing</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Sentinel-2 tests the result — it never enters the model</a:t>
            </a:r>
          </a:p>
        </p:txBody>
      </p:sp>
      <p:graphicFrame>
        <p:nvGraphicFramePr>
          <p:cNvPr id="5" name="Table 4"/>
          <p:cNvGraphicFramePr>
            <a:graphicFrameLocks noGrp="1"/>
          </p:cNvGraphicFramePr>
          <p:nvPr/>
        </p:nvGraphicFramePr>
        <p:xfrm>
          <a:off x="548640" y="1417320"/>
          <a:ext cx="6675120" cy="2194560"/>
        </p:xfrm>
        <a:graphic>
          <a:graphicData uri="http://schemas.openxmlformats.org/drawingml/2006/table">
            <a:tbl>
              <a:tblPr firstRow="1" bandRow="1">
                <a:tableStyleId>{5C22544A-7EE6-4342-B048-85BDC9FD1C3A}</a:tableStyleId>
              </a:tblPr>
              <a:tblGrid>
                <a:gridCol w="1335024"/>
                <a:gridCol w="2225040"/>
                <a:gridCol w="1335024"/>
                <a:gridCol w="1780032"/>
              </a:tblGrid>
              <a:tr h="365760">
                <a:tc>
                  <a:txBody>
                    <a:bodyPr/>
                    <a:lstStyle/>
                    <a:p>
                      <a:pPr algn="ctr"/>
                      <a:r>
                        <a:rPr sz="1250" b="1">
                          <a:solidFill>
                            <a:srgbClr val="FFFFFF"/>
                          </a:solidFill>
                          <a:latin typeface="Segoe UI"/>
                        </a:rPr>
                        <a:t>Crop</a:t>
                      </a:r>
                    </a:p>
                  </a:txBody>
                  <a:tcPr anchor="ctr">
                    <a:solidFill>
                      <a:srgbClr val="15678A"/>
                    </a:solidFill>
                  </a:tcPr>
                </a:tc>
                <a:tc>
                  <a:txBody>
                    <a:bodyPr/>
                    <a:lstStyle/>
                    <a:p>
                      <a:pPr algn="ctr"/>
                      <a:r>
                        <a:rPr sz="1250" b="1">
                          <a:solidFill>
                            <a:srgbClr val="FFFFFF"/>
                          </a:solidFill>
                          <a:latin typeface="Segoe UI"/>
                        </a:rPr>
                        <a:t>ρ vs same-day NDVI</a:t>
                      </a:r>
                    </a:p>
                  </a:txBody>
                  <a:tcPr anchor="ctr">
                    <a:solidFill>
                      <a:srgbClr val="15678A"/>
                    </a:solidFill>
                  </a:tcPr>
                </a:tc>
                <a:tc>
                  <a:txBody>
                    <a:bodyPr/>
                    <a:lstStyle/>
                    <a:p>
                      <a:pPr algn="ctr"/>
                      <a:r>
                        <a:rPr sz="1250" b="1">
                          <a:solidFill>
                            <a:srgbClr val="FFFFFF"/>
                          </a:solidFill>
                          <a:latin typeface="Segoe UI"/>
                        </a:rPr>
                        <a:t>p</a:t>
                      </a:r>
                    </a:p>
                  </a:txBody>
                  <a:tcPr anchor="ctr">
                    <a:solidFill>
                      <a:srgbClr val="15678A"/>
                    </a:solidFill>
                  </a:tcPr>
                </a:tc>
                <a:tc>
                  <a:txBody>
                    <a:bodyPr/>
                    <a:lstStyle/>
                    <a:p>
                      <a:pPr algn="ctr"/>
                      <a:r>
                        <a:rPr sz="1250" b="1">
                          <a:solidFill>
                            <a:srgbClr val="FFFFFF"/>
                          </a:solidFill>
                          <a:latin typeface="Segoe UI"/>
                        </a:rPr>
                        <a:t>On 13 Oct</a:t>
                      </a:r>
                    </a:p>
                  </a:txBody>
                  <a:tcPr anchor="ctr">
                    <a:solidFill>
                      <a:srgbClr val="15678A"/>
                    </a:solidFill>
                  </a:tcPr>
                </a:tc>
              </a:tr>
              <a:tr h="365760">
                <a:tc>
                  <a:txBody>
                    <a:bodyPr/>
                    <a:lstStyle/>
                    <a:p>
                      <a:pPr algn="l"/>
                      <a:r>
                        <a:rPr sz="1450" b="1">
                          <a:solidFill>
                            <a:srgbClr val="141B24"/>
                          </a:solidFill>
                          <a:latin typeface="Segoe UI"/>
                        </a:rPr>
                        <a:t>Rice</a:t>
                      </a:r>
                    </a:p>
                  </a:txBody>
                  <a:tcPr anchor="ctr">
                    <a:solidFill>
                      <a:srgbClr val="FFFFFF"/>
                    </a:solidFill>
                  </a:tcPr>
                </a:tc>
                <a:tc>
                  <a:txBody>
                    <a:bodyPr/>
                    <a:lstStyle/>
                    <a:p>
                      <a:pPr algn="ctr"/>
                      <a:r>
                        <a:rPr sz="1450" b="1">
                          <a:solidFill>
                            <a:srgbClr val="141B24"/>
                          </a:solidFill>
                          <a:latin typeface="Segoe UI"/>
                        </a:rPr>
                        <a:t>+0.365</a:t>
                      </a:r>
                    </a:p>
                  </a:txBody>
                  <a:tcPr anchor="ctr">
                    <a:solidFill>
                      <a:srgbClr val="FFFFFF"/>
                    </a:solidFill>
                  </a:tcPr>
                </a:tc>
                <a:tc>
                  <a:txBody>
                    <a:bodyPr/>
                    <a:lstStyle/>
                    <a:p>
                      <a:pPr algn="ctr"/>
                      <a:r>
                        <a:rPr sz="1450" b="1">
                          <a:solidFill>
                            <a:srgbClr val="141B24"/>
                          </a:solidFill>
                          <a:latin typeface="Segoe UI"/>
                        </a:rPr>
                        <a:t>2×10⁻⁸</a:t>
                      </a:r>
                    </a:p>
                  </a:txBody>
                  <a:tcPr anchor="ctr">
                    <a:solidFill>
                      <a:srgbClr val="FFFFFF"/>
                    </a:solidFill>
                  </a:tcPr>
                </a:tc>
                <a:tc>
                  <a:txBody>
                    <a:bodyPr/>
                    <a:lstStyle/>
                    <a:p>
                      <a:pPr algn="ctr"/>
                      <a:r>
                        <a:rPr sz="1450" b="1">
                          <a:solidFill>
                            <a:srgbClr val="141B24"/>
                          </a:solidFill>
                          <a:latin typeface="Segoe UI"/>
                        </a:rPr>
                        <a:t>standing</a:t>
                      </a:r>
                    </a:p>
                  </a:txBody>
                  <a:tcPr anchor="ctr">
                    <a:solidFill>
                      <a:srgbClr val="FFFFFF"/>
                    </a:solidFill>
                  </a:tcPr>
                </a:tc>
              </a:tr>
              <a:tr h="365760">
                <a:tc>
                  <a:txBody>
                    <a:bodyPr/>
                    <a:lstStyle/>
                    <a:p>
                      <a:pPr algn="l"/>
                      <a:r>
                        <a:rPr sz="1450" b="1">
                          <a:solidFill>
                            <a:srgbClr val="141B24"/>
                          </a:solidFill>
                          <a:latin typeface="Segoe UI"/>
                        </a:rPr>
                        <a:t>Cotton</a:t>
                      </a:r>
                    </a:p>
                  </a:txBody>
                  <a:tcPr anchor="ctr">
                    <a:solidFill>
                      <a:srgbClr val="F1F5F7"/>
                    </a:solidFill>
                  </a:tcPr>
                </a:tc>
                <a:tc>
                  <a:txBody>
                    <a:bodyPr/>
                    <a:lstStyle/>
                    <a:p>
                      <a:pPr algn="ctr"/>
                      <a:r>
                        <a:rPr sz="1450" b="1">
                          <a:solidFill>
                            <a:srgbClr val="141B24"/>
                          </a:solidFill>
                          <a:latin typeface="Segoe UI"/>
                        </a:rPr>
                        <a:t>+0.361</a:t>
                      </a:r>
                    </a:p>
                  </a:txBody>
                  <a:tcPr anchor="ctr">
                    <a:solidFill>
                      <a:srgbClr val="F1F5F7"/>
                    </a:solidFill>
                  </a:tcPr>
                </a:tc>
                <a:tc>
                  <a:txBody>
                    <a:bodyPr/>
                    <a:lstStyle/>
                    <a:p>
                      <a:pPr algn="ctr"/>
                      <a:r>
                        <a:rPr sz="1450" b="1">
                          <a:solidFill>
                            <a:srgbClr val="141B24"/>
                          </a:solidFill>
                          <a:latin typeface="Segoe UI"/>
                        </a:rPr>
                        <a:t>1×10⁻¹²</a:t>
                      </a:r>
                    </a:p>
                  </a:txBody>
                  <a:tcPr anchor="ctr">
                    <a:solidFill>
                      <a:srgbClr val="F1F5F7"/>
                    </a:solidFill>
                  </a:tcPr>
                </a:tc>
                <a:tc>
                  <a:txBody>
                    <a:bodyPr/>
                    <a:lstStyle/>
                    <a:p>
                      <a:pPr algn="ctr"/>
                      <a:r>
                        <a:rPr sz="1450" b="1">
                          <a:solidFill>
                            <a:srgbClr val="141B24"/>
                          </a:solidFill>
                          <a:latin typeface="Segoe UI"/>
                        </a:rPr>
                        <a:t>standing</a:t>
                      </a:r>
                    </a:p>
                  </a:txBody>
                  <a:tcPr anchor="ctr">
                    <a:solidFill>
                      <a:srgbClr val="F1F5F7"/>
                    </a:solidFill>
                  </a:tcPr>
                </a:tc>
              </a:tr>
              <a:tr h="365760">
                <a:tc>
                  <a:txBody>
                    <a:bodyPr/>
                    <a:lstStyle/>
                    <a:p>
                      <a:pPr algn="l"/>
                      <a:r>
                        <a:rPr sz="1450" b="0">
                          <a:solidFill>
                            <a:srgbClr val="141B24"/>
                          </a:solidFill>
                          <a:latin typeface="Segoe UI"/>
                        </a:rPr>
                        <a:t>Groundnut</a:t>
                      </a:r>
                    </a:p>
                  </a:txBody>
                  <a:tcPr anchor="ctr">
                    <a:solidFill>
                      <a:srgbClr val="FFFFFF"/>
                    </a:solidFill>
                  </a:tcPr>
                </a:tc>
                <a:tc>
                  <a:txBody>
                    <a:bodyPr/>
                    <a:lstStyle/>
                    <a:p>
                      <a:pPr algn="ctr"/>
                      <a:r>
                        <a:rPr sz="1450" b="0">
                          <a:solidFill>
                            <a:srgbClr val="141B24"/>
                          </a:solidFill>
                          <a:latin typeface="Segoe UI"/>
                        </a:rPr>
                        <a:t>+0.112</a:t>
                      </a:r>
                    </a:p>
                  </a:txBody>
                  <a:tcPr anchor="ctr">
                    <a:solidFill>
                      <a:srgbClr val="FFFFFF"/>
                    </a:solidFill>
                  </a:tcPr>
                </a:tc>
                <a:tc>
                  <a:txBody>
                    <a:bodyPr/>
                    <a:lstStyle/>
                    <a:p>
                      <a:pPr algn="ctr"/>
                      <a:r>
                        <a:rPr sz="1450" b="0">
                          <a:solidFill>
                            <a:srgbClr val="141B24"/>
                          </a:solidFill>
                          <a:latin typeface="Segoe UI"/>
                        </a:rPr>
                        <a:t>0.079</a:t>
                      </a:r>
                    </a:p>
                  </a:txBody>
                  <a:tcPr anchor="ctr">
                    <a:solidFill>
                      <a:srgbClr val="FFFFFF"/>
                    </a:solidFill>
                  </a:tcPr>
                </a:tc>
                <a:tc>
                  <a:txBody>
                    <a:bodyPr/>
                    <a:lstStyle/>
                    <a:p>
                      <a:pPr algn="ctr"/>
                      <a:r>
                        <a:rPr sz="1450" b="0">
                          <a:solidFill>
                            <a:srgbClr val="141B24"/>
                          </a:solidFill>
                          <a:latin typeface="Segoe UI"/>
                        </a:rPr>
                        <a:t>harvesting</a:t>
                      </a:r>
                    </a:p>
                  </a:txBody>
                  <a:tcPr anchor="ctr">
                    <a:solidFill>
                      <a:srgbClr val="FFFFFF"/>
                    </a:solidFill>
                  </a:tcPr>
                </a:tc>
              </a:tr>
              <a:tr h="365760">
                <a:tc>
                  <a:txBody>
                    <a:bodyPr/>
                    <a:lstStyle/>
                    <a:p>
                      <a:pPr algn="l"/>
                      <a:r>
                        <a:rPr sz="1450" b="0">
                          <a:solidFill>
                            <a:srgbClr val="141B24"/>
                          </a:solidFill>
                          <a:latin typeface="Segoe UI"/>
                        </a:rPr>
                        <a:t>Maize</a:t>
                      </a:r>
                    </a:p>
                  </a:txBody>
                  <a:tcPr anchor="ctr">
                    <a:solidFill>
                      <a:srgbClr val="F1F5F7"/>
                    </a:solidFill>
                  </a:tcPr>
                </a:tc>
                <a:tc>
                  <a:txBody>
                    <a:bodyPr/>
                    <a:lstStyle/>
                    <a:p>
                      <a:pPr algn="ctr"/>
                      <a:r>
                        <a:rPr sz="1450" b="0">
                          <a:solidFill>
                            <a:srgbClr val="141B24"/>
                          </a:solidFill>
                          <a:latin typeface="Segoe UI"/>
                        </a:rPr>
                        <a:t>+0.019</a:t>
                      </a:r>
                    </a:p>
                  </a:txBody>
                  <a:tcPr anchor="ctr">
                    <a:solidFill>
                      <a:srgbClr val="F1F5F7"/>
                    </a:solidFill>
                  </a:tcPr>
                </a:tc>
                <a:tc>
                  <a:txBody>
                    <a:bodyPr/>
                    <a:lstStyle/>
                    <a:p>
                      <a:pPr algn="ctr"/>
                      <a:r>
                        <a:rPr sz="1450" b="0">
                          <a:solidFill>
                            <a:srgbClr val="141B24"/>
                          </a:solidFill>
                          <a:latin typeface="Segoe UI"/>
                        </a:rPr>
                        <a:t>0.88</a:t>
                      </a:r>
                    </a:p>
                  </a:txBody>
                  <a:tcPr anchor="ctr">
                    <a:solidFill>
                      <a:srgbClr val="F1F5F7"/>
                    </a:solidFill>
                  </a:tcPr>
                </a:tc>
                <a:tc>
                  <a:txBody>
                    <a:bodyPr/>
                    <a:lstStyle/>
                    <a:p>
                      <a:pPr algn="ctr"/>
                      <a:r>
                        <a:rPr sz="1450" b="0">
                          <a:solidFill>
                            <a:srgbClr val="141B24"/>
                          </a:solidFill>
                          <a:latin typeface="Segoe UI"/>
                        </a:rPr>
                        <a:t>harvested</a:t>
                      </a:r>
                    </a:p>
                  </a:txBody>
                  <a:tcPr anchor="ctr">
                    <a:solidFill>
                      <a:srgbClr val="F1F5F7"/>
                    </a:solidFill>
                  </a:tcPr>
                </a:tc>
              </a:tr>
              <a:tr h="365760">
                <a:tc>
                  <a:txBody>
                    <a:bodyPr/>
                    <a:lstStyle/>
                    <a:p>
                      <a:pPr algn="l"/>
                      <a:r>
                        <a:rPr sz="1450" b="0">
                          <a:solidFill>
                            <a:srgbClr val="141B24"/>
                          </a:solidFill>
                          <a:latin typeface="Segoe UI"/>
                        </a:rPr>
                        <a:t>Bajra</a:t>
                      </a:r>
                    </a:p>
                  </a:txBody>
                  <a:tcPr anchor="ctr">
                    <a:solidFill>
                      <a:srgbClr val="FFFFFF"/>
                    </a:solidFill>
                  </a:tcPr>
                </a:tc>
                <a:tc>
                  <a:txBody>
                    <a:bodyPr/>
                    <a:lstStyle/>
                    <a:p>
                      <a:pPr algn="ctr"/>
                      <a:r>
                        <a:rPr sz="1450" b="0">
                          <a:solidFill>
                            <a:srgbClr val="141B24"/>
                          </a:solidFill>
                          <a:latin typeface="Segoe UI"/>
                        </a:rPr>
                        <a:t>−0.071</a:t>
                      </a:r>
                    </a:p>
                  </a:txBody>
                  <a:tcPr anchor="ctr">
                    <a:solidFill>
                      <a:srgbClr val="FFFFFF"/>
                    </a:solidFill>
                  </a:tcPr>
                </a:tc>
                <a:tc>
                  <a:txBody>
                    <a:bodyPr/>
                    <a:lstStyle/>
                    <a:p>
                      <a:pPr algn="ctr"/>
                      <a:r>
                        <a:rPr sz="1450" b="0">
                          <a:solidFill>
                            <a:srgbClr val="141B24"/>
                          </a:solidFill>
                          <a:latin typeface="Segoe UI"/>
                        </a:rPr>
                        <a:t>0.61</a:t>
                      </a:r>
                    </a:p>
                  </a:txBody>
                  <a:tcPr anchor="ctr">
                    <a:solidFill>
                      <a:srgbClr val="FFFFFF"/>
                    </a:solidFill>
                  </a:tcPr>
                </a:tc>
                <a:tc>
                  <a:txBody>
                    <a:bodyPr/>
                    <a:lstStyle/>
                    <a:p>
                      <a:pPr algn="ctr"/>
                      <a:r>
                        <a:rPr sz="1450" b="0">
                          <a:solidFill>
                            <a:srgbClr val="141B24"/>
                          </a:solidFill>
                          <a:latin typeface="Segoe UI"/>
                        </a:rPr>
                        <a:t>harvested</a:t>
                      </a:r>
                    </a:p>
                  </a:txBody>
                  <a:tcPr anchor="ctr">
                    <a:solidFill>
                      <a:srgbClr val="FFFFFF"/>
                    </a:solidFill>
                  </a:tcPr>
                </a:tc>
              </a:tr>
            </a:tbl>
          </a:graphicData>
        </a:graphic>
      </p:graphicFrame>
      <p:sp>
        <p:nvSpPr>
          <p:cNvPr id="6" name="TextBox 5"/>
          <p:cNvSpPr txBox="1"/>
          <p:nvPr/>
        </p:nvSpPr>
        <p:spPr>
          <a:xfrm>
            <a:off x="548640" y="3886200"/>
            <a:ext cx="6675120" cy="2468880"/>
          </a:xfrm>
          <a:prstGeom prst="rect">
            <a:avLst/>
          </a:prstGeom>
          <a:noFill/>
        </p:spPr>
        <p:txBody>
          <a:bodyPr wrap="square" lIns="0" rIns="0" tIns="0" bIns="0">
            <a:spAutoFit/>
          </a:bodyPr>
          <a:lstStyle/>
          <a:p>
            <a:pPr algn="l">
              <a:lnSpc>
                <a:spcPct val="120000"/>
              </a:lnSpc>
              <a:spcAft>
                <a:spcPts val="800"/>
              </a:spcAft>
            </a:pPr>
            <a:r>
              <a:rPr sz="1500" b="1" i="0">
                <a:solidFill>
                  <a:srgbClr val="141B24"/>
                </a:solidFill>
                <a:latin typeface="Segoe UI"/>
              </a:rPr>
              <a:t>Significant for the two crops still in the field. Null for the three already cut.</a:t>
            </a:r>
          </a:p>
          <a:p>
            <a:pPr algn="l">
              <a:lnSpc>
                <a:spcPct val="120000"/>
              </a:lnSpc>
              <a:spcAft>
                <a:spcPts val="800"/>
              </a:spcAft>
            </a:pPr>
          </a:p>
          <a:p>
            <a:pPr algn="l">
              <a:lnSpc>
                <a:spcPct val="120000"/>
              </a:lnSpc>
              <a:spcAft>
                <a:spcPts val="800"/>
              </a:spcAft>
            </a:pPr>
            <a:r>
              <a:rPr sz="1500" b="0" i="0">
                <a:solidFill>
                  <a:srgbClr val="141B24"/>
                </a:solidFill>
                <a:latin typeface="Segoe UI"/>
              </a:rPr>
              <a:t>An artefact would correlate everywhere or nowhere. This pattern is hard to produce by accident.</a:t>
            </a:r>
          </a:p>
          <a:p>
            <a:pPr algn="l">
              <a:lnSpc>
                <a:spcPct val="120000"/>
              </a:lnSpc>
              <a:spcAft>
                <a:spcPts val="800"/>
              </a:spcAft>
            </a:pPr>
          </a:p>
          <a:p>
            <a:pPr algn="l">
              <a:lnSpc>
                <a:spcPct val="120000"/>
              </a:lnSpc>
              <a:spcAft>
                <a:spcPts val="800"/>
              </a:spcAft>
            </a:pPr>
            <a:r>
              <a:rPr sz="1500" b="0" i="0">
                <a:solidFill>
                  <a:srgbClr val="141B24"/>
                </a:solidFill>
                <a:latin typeface="Segoe UI"/>
              </a:rPr>
              <a:t>Whole village, same day: ρ = +0.56 (13 Oct) · +0.48 (12 Nov)</a:t>
            </a:r>
          </a:p>
        </p:txBody>
      </p:sp>
      <p:pic>
        <p:nvPicPr>
          <p:cNvPr id="7" name="Picture 6" descr="07_optical_blackout.png"/>
          <p:cNvPicPr>
            <a:picLocks noChangeAspect="1"/>
          </p:cNvPicPr>
          <p:nvPr/>
        </p:nvPicPr>
        <p:blipFill>
          <a:blip r:embed="rId3"/>
          <a:stretch>
            <a:fillRect/>
          </a:stretch>
        </p:blipFill>
        <p:spPr>
          <a:xfrm>
            <a:off x="7498079" y="1737360"/>
            <a:ext cx="4297680" cy="1591733"/>
          </a:xfrm>
          <a:prstGeom prst="rect">
            <a:avLst/>
          </a:prstGeom>
        </p:spPr>
      </p:pic>
      <p:sp>
        <p:nvSpPr>
          <p:cNvPr id="8" name="TextBox 7"/>
          <p:cNvSpPr txBox="1"/>
          <p:nvPr/>
        </p:nvSpPr>
        <p:spPr>
          <a:xfrm>
            <a:off x="7498079" y="4709160"/>
            <a:ext cx="4297680" cy="1645920"/>
          </a:xfrm>
          <a:prstGeom prst="rect">
            <a:avLst/>
          </a:prstGeom>
          <a:noFill/>
        </p:spPr>
        <p:txBody>
          <a:bodyPr wrap="square" lIns="0" rIns="0" tIns="0" bIns="0">
            <a:spAutoFit/>
          </a:bodyPr>
          <a:lstStyle/>
          <a:p>
            <a:pPr algn="l">
              <a:lnSpc>
                <a:spcPct val="120000"/>
              </a:lnSpc>
              <a:spcAft>
                <a:spcPts val="800"/>
              </a:spcAft>
            </a:pPr>
            <a:r>
              <a:rPr sz="1300" b="1" i="0">
                <a:solidFill>
                  <a:srgbClr val="141B24"/>
                </a:solidFill>
                <a:latin typeface="Segoe UI"/>
              </a:rPr>
              <a:t>Why it must be SAR.</a:t>
            </a:r>
            <a:r>
              <a:rPr sz="1300" b="0" i="0">
                <a:solidFill>
                  <a:srgbClr val="141B24"/>
                </a:solidFill>
                <a:latin typeface="Segoe UI"/>
              </a:rPr>
              <a:t> 46 Sentinel-2 overpasses Jun–Nov, 10 usable. Between 19 Jun and 8 Oct: 29 passes, none below 23.3% cloud. A </a:t>
            </a:r>
            <a:r>
              <a:rPr sz="1300" b="1" i="0">
                <a:solidFill>
                  <a:srgbClr val="141B24"/>
                </a:solidFill>
                <a:latin typeface="Segoe UI"/>
              </a:rPr>
              <a:t>111-day blackout</a:t>
            </a:r>
            <a:r>
              <a:rPr sz="1300" b="0" i="0">
                <a:solidFill>
                  <a:srgbClr val="141B24"/>
                </a:solidFill>
                <a:latin typeface="Segoe UI"/>
              </a:rPr>
              <a:t> over sowing, establishment and peak growth. All six SAR passes clean.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Plot-level final yield forecast — all 966 plots</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Coherent spatial structure, not plot-level speckle</a:t>
            </a:r>
          </a:p>
        </p:txBody>
      </p:sp>
      <p:pic>
        <p:nvPicPr>
          <p:cNvPr id="5" name="Picture 4" descr="02_yield_and_crop_map.png"/>
          <p:cNvPicPr>
            <a:picLocks noChangeAspect="1"/>
          </p:cNvPicPr>
          <p:nvPr/>
        </p:nvPicPr>
        <p:blipFill>
          <a:blip r:embed="rId3"/>
          <a:stretch>
            <a:fillRect/>
          </a:stretch>
        </p:blipFill>
        <p:spPr>
          <a:xfrm>
            <a:off x="274320" y="1188720"/>
            <a:ext cx="11658600" cy="56235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Village-level forecast — Sokhda, 447.5 ha</a:t>
            </a:r>
          </a:p>
        </p:txBody>
      </p:sp>
      <p:graphicFrame>
        <p:nvGraphicFramePr>
          <p:cNvPr id="4" name="Table 3"/>
          <p:cNvGraphicFramePr>
            <a:graphicFrameLocks noGrp="1"/>
          </p:cNvGraphicFramePr>
          <p:nvPr/>
        </p:nvGraphicFramePr>
        <p:xfrm>
          <a:off x="457200" y="1371600"/>
          <a:ext cx="11292835" cy="2468880"/>
        </p:xfrm>
        <a:graphic>
          <a:graphicData uri="http://schemas.openxmlformats.org/drawingml/2006/table">
            <a:tbl>
              <a:tblPr firstRow="1" bandRow="1">
                <a:tableStyleId>{5C22544A-7EE6-4342-B048-85BDC9FD1C3A}</a:tableStyleId>
              </a:tblPr>
              <a:tblGrid>
                <a:gridCol w="1648589"/>
                <a:gridCol w="989153"/>
                <a:gridCol w="1318871"/>
                <a:gridCol w="1813448"/>
                <a:gridCol w="2060737"/>
                <a:gridCol w="1648589"/>
                <a:gridCol w="1813448"/>
              </a:tblGrid>
              <a:tr h="411480">
                <a:tc>
                  <a:txBody>
                    <a:bodyPr/>
                    <a:lstStyle/>
                    <a:p>
                      <a:pPr algn="ctr"/>
                      <a:r>
                        <a:rPr sz="1300" b="1">
                          <a:solidFill>
                            <a:srgbClr val="FFFFFF"/>
                          </a:solidFill>
                          <a:latin typeface="Segoe UI"/>
                        </a:rPr>
                        <a:t>Crop</a:t>
                      </a:r>
                    </a:p>
                  </a:txBody>
                  <a:tcPr anchor="ctr">
                    <a:solidFill>
                      <a:srgbClr val="15678A"/>
                    </a:solidFill>
                  </a:tcPr>
                </a:tc>
                <a:tc>
                  <a:txBody>
                    <a:bodyPr/>
                    <a:lstStyle/>
                    <a:p>
                      <a:pPr algn="ctr"/>
                      <a:r>
                        <a:rPr sz="1300" b="1">
                          <a:solidFill>
                            <a:srgbClr val="FFFFFF"/>
                          </a:solidFill>
                          <a:latin typeface="Segoe UI"/>
                        </a:rPr>
                        <a:t>Plots</a:t>
                      </a:r>
                    </a:p>
                  </a:txBody>
                  <a:tcPr anchor="ctr">
                    <a:solidFill>
                      <a:srgbClr val="15678A"/>
                    </a:solidFill>
                  </a:tcPr>
                </a:tc>
                <a:tc>
                  <a:txBody>
                    <a:bodyPr/>
                    <a:lstStyle/>
                    <a:p>
                      <a:pPr algn="ctr"/>
                      <a:r>
                        <a:rPr sz="1300" b="1">
                          <a:solidFill>
                            <a:srgbClr val="FFFFFF"/>
                          </a:solidFill>
                          <a:latin typeface="Segoe UI"/>
                        </a:rPr>
                        <a:t>Area (ha)</a:t>
                      </a:r>
                    </a:p>
                  </a:txBody>
                  <a:tcPr anchor="ctr">
                    <a:solidFill>
                      <a:srgbClr val="15678A"/>
                    </a:solidFill>
                  </a:tcPr>
                </a:tc>
                <a:tc>
                  <a:txBody>
                    <a:bodyPr/>
                    <a:lstStyle/>
                    <a:p>
                      <a:pPr algn="ctr"/>
                      <a:r>
                        <a:rPr sz="1300" b="1">
                          <a:solidFill>
                            <a:srgbClr val="FFFFFF"/>
                          </a:solidFill>
                          <a:latin typeface="Segoe UI"/>
                        </a:rPr>
                        <a:t>Forecast (kg/ha)</a:t>
                      </a:r>
                    </a:p>
                  </a:txBody>
                  <a:tcPr anchor="ctr">
                    <a:solidFill>
                      <a:srgbClr val="15678A"/>
                    </a:solidFill>
                  </a:tcPr>
                </a:tc>
                <a:tc>
                  <a:txBody>
                    <a:bodyPr/>
                    <a:lstStyle/>
                    <a:p>
                      <a:pPr algn="ctr"/>
                      <a:r>
                        <a:rPr sz="1300" b="1">
                          <a:solidFill>
                            <a:srgbClr val="FFFFFF"/>
                          </a:solidFill>
                          <a:latin typeface="Segoe UI"/>
                        </a:rPr>
                        <a:t>P10 – P90</a:t>
                      </a:r>
                    </a:p>
                  </a:txBody>
                  <a:tcPr anchor="ctr">
                    <a:solidFill>
                      <a:srgbClr val="15678A"/>
                    </a:solidFill>
                  </a:tcPr>
                </a:tc>
                <a:tc>
                  <a:txBody>
                    <a:bodyPr/>
                    <a:lstStyle/>
                    <a:p>
                      <a:pPr algn="ctr"/>
                      <a:r>
                        <a:rPr sz="1300" b="1">
                          <a:solidFill>
                            <a:srgbClr val="FFFFFF"/>
                          </a:solidFill>
                          <a:latin typeface="Segoe UI"/>
                        </a:rPr>
                        <a:t>Production (t)</a:t>
                      </a:r>
                    </a:p>
                  </a:txBody>
                  <a:tcPr anchor="ctr">
                    <a:solidFill>
                      <a:srgbClr val="15678A"/>
                    </a:solidFill>
                  </a:tcPr>
                </a:tc>
                <a:tc>
                  <a:txBody>
                    <a:bodyPr/>
                    <a:lstStyle/>
                    <a:p>
                      <a:pPr algn="ctr"/>
                      <a:r>
                        <a:rPr sz="1300" b="1">
                          <a:solidFill>
                            <a:srgbClr val="FFFFFF"/>
                          </a:solidFill>
                          <a:latin typeface="Segoe UI"/>
                        </a:rPr>
                        <a:t>Product</a:t>
                      </a:r>
                    </a:p>
                  </a:txBody>
                  <a:tcPr anchor="ctr">
                    <a:solidFill>
                      <a:srgbClr val="15678A"/>
                    </a:solidFill>
                  </a:tcPr>
                </a:tc>
              </a:tr>
              <a:tr h="411480">
                <a:tc>
                  <a:txBody>
                    <a:bodyPr/>
                    <a:lstStyle/>
                    <a:p>
                      <a:pPr algn="l"/>
                      <a:r>
                        <a:rPr sz="1500" b="0">
                          <a:solidFill>
                            <a:srgbClr val="141B24"/>
                          </a:solidFill>
                          <a:latin typeface="Segoe UI"/>
                        </a:rPr>
                        <a:t>Rice</a:t>
                      </a:r>
                    </a:p>
                  </a:txBody>
                  <a:tcPr anchor="ctr">
                    <a:solidFill>
                      <a:srgbClr val="FFFFFF"/>
                    </a:solidFill>
                  </a:tcPr>
                </a:tc>
                <a:tc>
                  <a:txBody>
                    <a:bodyPr/>
                    <a:lstStyle/>
                    <a:p>
                      <a:pPr algn="ctr"/>
                      <a:r>
                        <a:rPr sz="1500" b="0">
                          <a:solidFill>
                            <a:srgbClr val="141B24"/>
                          </a:solidFill>
                          <a:latin typeface="Segoe UI"/>
                        </a:rPr>
                        <a:t>226</a:t>
                      </a:r>
                    </a:p>
                  </a:txBody>
                  <a:tcPr anchor="ctr">
                    <a:solidFill>
                      <a:srgbClr val="FFFFFF"/>
                    </a:solidFill>
                  </a:tcPr>
                </a:tc>
                <a:tc>
                  <a:txBody>
                    <a:bodyPr/>
                    <a:lstStyle/>
                    <a:p>
                      <a:pPr algn="ctr"/>
                      <a:r>
                        <a:rPr sz="1500" b="0">
                          <a:solidFill>
                            <a:srgbClr val="141B24"/>
                          </a:solidFill>
                          <a:latin typeface="Segoe UI"/>
                        </a:rPr>
                        <a:t>60.4</a:t>
                      </a:r>
                    </a:p>
                  </a:txBody>
                  <a:tcPr anchor="ctr">
                    <a:solidFill>
                      <a:srgbClr val="FFFFFF"/>
                    </a:solidFill>
                  </a:tcPr>
                </a:tc>
                <a:tc>
                  <a:txBody>
                    <a:bodyPr/>
                    <a:lstStyle/>
                    <a:p>
                      <a:pPr algn="ctr"/>
                      <a:r>
                        <a:rPr sz="1500" b="0">
                          <a:solidFill>
                            <a:srgbClr val="141B24"/>
                          </a:solidFill>
                          <a:latin typeface="Segoe UI"/>
                        </a:rPr>
                        <a:t>1,717</a:t>
                      </a:r>
                    </a:p>
                  </a:txBody>
                  <a:tcPr anchor="ctr">
                    <a:solidFill>
                      <a:srgbClr val="FFFFFF"/>
                    </a:solidFill>
                  </a:tcPr>
                </a:tc>
                <a:tc>
                  <a:txBody>
                    <a:bodyPr/>
                    <a:lstStyle/>
                    <a:p>
                      <a:pPr algn="ctr"/>
                      <a:r>
                        <a:rPr sz="1500" b="0">
                          <a:solidFill>
                            <a:srgbClr val="141B24"/>
                          </a:solidFill>
                          <a:latin typeface="Segoe UI"/>
                        </a:rPr>
                        <a:t>1,401 – 2,021</a:t>
                      </a:r>
                    </a:p>
                  </a:txBody>
                  <a:tcPr anchor="ctr">
                    <a:solidFill>
                      <a:srgbClr val="FFFFFF"/>
                    </a:solidFill>
                  </a:tcPr>
                </a:tc>
                <a:tc>
                  <a:txBody>
                    <a:bodyPr/>
                    <a:lstStyle/>
                    <a:p>
                      <a:pPr algn="ctr"/>
                      <a:r>
                        <a:rPr sz="1500" b="0">
                          <a:solidFill>
                            <a:srgbClr val="141B24"/>
                          </a:solidFill>
                          <a:latin typeface="Segoe UI"/>
                        </a:rPr>
                        <a:t>103.7</a:t>
                      </a:r>
                    </a:p>
                  </a:txBody>
                  <a:tcPr anchor="ctr">
                    <a:solidFill>
                      <a:srgbClr val="FFFFFF"/>
                    </a:solidFill>
                  </a:tcPr>
                </a:tc>
                <a:tc>
                  <a:txBody>
                    <a:bodyPr/>
                    <a:lstStyle/>
                    <a:p>
                      <a:pPr algn="ctr"/>
                      <a:r>
                        <a:rPr sz="1500" b="0">
                          <a:solidFill>
                            <a:srgbClr val="141B24"/>
                          </a:solidFill>
                          <a:latin typeface="Segoe UI"/>
                        </a:rPr>
                        <a:t>paddy grain</a:t>
                      </a:r>
                    </a:p>
                  </a:txBody>
                  <a:tcPr anchor="ctr">
                    <a:solidFill>
                      <a:srgbClr val="FFFFFF"/>
                    </a:solidFill>
                  </a:tcPr>
                </a:tc>
              </a:tr>
              <a:tr h="411480">
                <a:tc>
                  <a:txBody>
                    <a:bodyPr/>
                    <a:lstStyle/>
                    <a:p>
                      <a:pPr algn="l"/>
                      <a:r>
                        <a:rPr sz="1500" b="0">
                          <a:solidFill>
                            <a:srgbClr val="141B24"/>
                          </a:solidFill>
                          <a:latin typeface="Segoe UI"/>
                        </a:rPr>
                        <a:t>Cotton</a:t>
                      </a:r>
                    </a:p>
                  </a:txBody>
                  <a:tcPr anchor="ctr">
                    <a:solidFill>
                      <a:srgbClr val="F1F5F7"/>
                    </a:solidFill>
                  </a:tcPr>
                </a:tc>
                <a:tc>
                  <a:txBody>
                    <a:bodyPr/>
                    <a:lstStyle/>
                    <a:p>
                      <a:pPr algn="ctr"/>
                      <a:r>
                        <a:rPr sz="1500" b="0">
                          <a:solidFill>
                            <a:srgbClr val="141B24"/>
                          </a:solidFill>
                          <a:latin typeface="Segoe UI"/>
                        </a:rPr>
                        <a:t>364</a:t>
                      </a:r>
                    </a:p>
                  </a:txBody>
                  <a:tcPr anchor="ctr">
                    <a:solidFill>
                      <a:srgbClr val="F1F5F7"/>
                    </a:solidFill>
                  </a:tcPr>
                </a:tc>
                <a:tc>
                  <a:txBody>
                    <a:bodyPr/>
                    <a:lstStyle/>
                    <a:p>
                      <a:pPr algn="ctr"/>
                      <a:r>
                        <a:rPr sz="1500" b="0">
                          <a:solidFill>
                            <a:srgbClr val="141B24"/>
                          </a:solidFill>
                          <a:latin typeface="Segoe UI"/>
                        </a:rPr>
                        <a:t>192.7</a:t>
                      </a:r>
                    </a:p>
                  </a:txBody>
                  <a:tcPr anchor="ctr">
                    <a:solidFill>
                      <a:srgbClr val="F1F5F7"/>
                    </a:solidFill>
                  </a:tcPr>
                </a:tc>
                <a:tc>
                  <a:txBody>
                    <a:bodyPr/>
                    <a:lstStyle/>
                    <a:p>
                      <a:pPr algn="ctr"/>
                      <a:r>
                        <a:rPr sz="1500" b="0">
                          <a:solidFill>
                            <a:srgbClr val="141B24"/>
                          </a:solidFill>
                          <a:latin typeface="Segoe UI"/>
                        </a:rPr>
                        <a:t>820</a:t>
                      </a:r>
                    </a:p>
                  </a:txBody>
                  <a:tcPr anchor="ctr">
                    <a:solidFill>
                      <a:srgbClr val="F1F5F7"/>
                    </a:solidFill>
                  </a:tcPr>
                </a:tc>
                <a:tc>
                  <a:txBody>
                    <a:bodyPr/>
                    <a:lstStyle/>
                    <a:p>
                      <a:pPr algn="ctr"/>
                      <a:r>
                        <a:rPr sz="1500" b="0">
                          <a:solidFill>
                            <a:srgbClr val="141B24"/>
                          </a:solidFill>
                          <a:latin typeface="Segoe UI"/>
                        </a:rPr>
                        <a:t>674 – 972</a:t>
                      </a:r>
                    </a:p>
                  </a:txBody>
                  <a:tcPr anchor="ctr">
                    <a:solidFill>
                      <a:srgbClr val="F1F5F7"/>
                    </a:solidFill>
                  </a:tcPr>
                </a:tc>
                <a:tc>
                  <a:txBody>
                    <a:bodyPr/>
                    <a:lstStyle/>
                    <a:p>
                      <a:pPr algn="ctr"/>
                      <a:r>
                        <a:rPr sz="1500" b="0">
                          <a:solidFill>
                            <a:srgbClr val="141B24"/>
                          </a:solidFill>
                          <a:latin typeface="Segoe UI"/>
                        </a:rPr>
                        <a:t>158.0</a:t>
                      </a:r>
                    </a:p>
                  </a:txBody>
                  <a:tcPr anchor="ctr">
                    <a:solidFill>
                      <a:srgbClr val="F1F5F7"/>
                    </a:solidFill>
                  </a:tcPr>
                </a:tc>
                <a:tc>
                  <a:txBody>
                    <a:bodyPr/>
                    <a:lstStyle/>
                    <a:p>
                      <a:pPr algn="ctr"/>
                      <a:r>
                        <a:rPr sz="1500" b="0">
                          <a:solidFill>
                            <a:srgbClr val="141B24"/>
                          </a:solidFill>
                          <a:latin typeface="Segoe UI"/>
                        </a:rPr>
                        <a:t>lint</a:t>
                      </a:r>
                    </a:p>
                  </a:txBody>
                  <a:tcPr anchor="ctr">
                    <a:solidFill>
                      <a:srgbClr val="F1F5F7"/>
                    </a:solidFill>
                  </a:tcPr>
                </a:tc>
              </a:tr>
              <a:tr h="411480">
                <a:tc>
                  <a:txBody>
                    <a:bodyPr/>
                    <a:lstStyle/>
                    <a:p>
                      <a:pPr algn="l"/>
                      <a:r>
                        <a:rPr sz="1500" b="0">
                          <a:solidFill>
                            <a:srgbClr val="141B24"/>
                          </a:solidFill>
                          <a:latin typeface="Segoe UI"/>
                        </a:rPr>
                        <a:t>Maize</a:t>
                      </a:r>
                    </a:p>
                  </a:txBody>
                  <a:tcPr anchor="ctr">
                    <a:solidFill>
                      <a:srgbClr val="FFFFFF"/>
                    </a:solidFill>
                  </a:tcPr>
                </a:tc>
                <a:tc>
                  <a:txBody>
                    <a:bodyPr/>
                    <a:lstStyle/>
                    <a:p>
                      <a:pPr algn="ctr"/>
                      <a:r>
                        <a:rPr sz="1500" b="0">
                          <a:solidFill>
                            <a:srgbClr val="141B24"/>
                          </a:solidFill>
                          <a:latin typeface="Segoe UI"/>
                        </a:rPr>
                        <a:t>74</a:t>
                      </a:r>
                    </a:p>
                  </a:txBody>
                  <a:tcPr anchor="ctr">
                    <a:solidFill>
                      <a:srgbClr val="FFFFFF"/>
                    </a:solidFill>
                  </a:tcPr>
                </a:tc>
                <a:tc>
                  <a:txBody>
                    <a:bodyPr/>
                    <a:lstStyle/>
                    <a:p>
                      <a:pPr algn="ctr"/>
                      <a:r>
                        <a:rPr sz="1500" b="0">
                          <a:solidFill>
                            <a:srgbClr val="141B24"/>
                          </a:solidFill>
                          <a:latin typeface="Segoe UI"/>
                        </a:rPr>
                        <a:t>34.3</a:t>
                      </a:r>
                    </a:p>
                  </a:txBody>
                  <a:tcPr anchor="ctr">
                    <a:solidFill>
                      <a:srgbClr val="FFFFFF"/>
                    </a:solidFill>
                  </a:tcPr>
                </a:tc>
                <a:tc>
                  <a:txBody>
                    <a:bodyPr/>
                    <a:lstStyle/>
                    <a:p>
                      <a:pPr algn="ctr"/>
                      <a:r>
                        <a:rPr sz="1500" b="0">
                          <a:solidFill>
                            <a:srgbClr val="141B24"/>
                          </a:solidFill>
                          <a:latin typeface="Segoe UI"/>
                        </a:rPr>
                        <a:t>2,479</a:t>
                      </a:r>
                    </a:p>
                  </a:txBody>
                  <a:tcPr anchor="ctr">
                    <a:solidFill>
                      <a:srgbClr val="FFFFFF"/>
                    </a:solidFill>
                  </a:tcPr>
                </a:tc>
                <a:tc>
                  <a:txBody>
                    <a:bodyPr/>
                    <a:lstStyle/>
                    <a:p>
                      <a:pPr algn="ctr"/>
                      <a:r>
                        <a:rPr sz="1500" b="0">
                          <a:solidFill>
                            <a:srgbClr val="141B24"/>
                          </a:solidFill>
                          <a:latin typeface="Segoe UI"/>
                        </a:rPr>
                        <a:t>2,008 – 2,968</a:t>
                      </a:r>
                    </a:p>
                  </a:txBody>
                  <a:tcPr anchor="ctr">
                    <a:solidFill>
                      <a:srgbClr val="FFFFFF"/>
                    </a:solidFill>
                  </a:tcPr>
                </a:tc>
                <a:tc>
                  <a:txBody>
                    <a:bodyPr/>
                    <a:lstStyle/>
                    <a:p>
                      <a:pPr algn="ctr"/>
                      <a:r>
                        <a:rPr sz="1500" b="0">
                          <a:solidFill>
                            <a:srgbClr val="141B24"/>
                          </a:solidFill>
                          <a:latin typeface="Segoe UI"/>
                        </a:rPr>
                        <a:t>85.0</a:t>
                      </a:r>
                    </a:p>
                  </a:txBody>
                  <a:tcPr anchor="ctr">
                    <a:solidFill>
                      <a:srgbClr val="FFFFFF"/>
                    </a:solidFill>
                  </a:tcPr>
                </a:tc>
                <a:tc>
                  <a:txBody>
                    <a:bodyPr/>
                    <a:lstStyle/>
                    <a:p>
                      <a:pPr algn="ctr"/>
                      <a:r>
                        <a:rPr sz="1500" b="0">
                          <a:solidFill>
                            <a:srgbClr val="141B24"/>
                          </a:solidFill>
                          <a:latin typeface="Segoe UI"/>
                        </a:rPr>
                        <a:t>grain</a:t>
                      </a:r>
                    </a:p>
                  </a:txBody>
                  <a:tcPr anchor="ctr">
                    <a:solidFill>
                      <a:srgbClr val="FFFFFF"/>
                    </a:solidFill>
                  </a:tcPr>
                </a:tc>
              </a:tr>
              <a:tr h="411480">
                <a:tc>
                  <a:txBody>
                    <a:bodyPr/>
                    <a:lstStyle/>
                    <a:p>
                      <a:pPr algn="l"/>
                      <a:r>
                        <a:rPr sz="1500" b="0">
                          <a:solidFill>
                            <a:srgbClr val="141B24"/>
                          </a:solidFill>
                          <a:latin typeface="Segoe UI"/>
                        </a:rPr>
                        <a:t>Bajra</a:t>
                      </a:r>
                    </a:p>
                  </a:txBody>
                  <a:tcPr anchor="ctr">
                    <a:solidFill>
                      <a:srgbClr val="F1F5F7"/>
                    </a:solidFill>
                  </a:tcPr>
                </a:tc>
                <a:tc>
                  <a:txBody>
                    <a:bodyPr/>
                    <a:lstStyle/>
                    <a:p>
                      <a:pPr algn="ctr"/>
                      <a:r>
                        <a:rPr sz="1500" b="0">
                          <a:solidFill>
                            <a:srgbClr val="141B24"/>
                          </a:solidFill>
                          <a:latin typeface="Segoe UI"/>
                        </a:rPr>
                        <a:t>54</a:t>
                      </a:r>
                    </a:p>
                  </a:txBody>
                  <a:tcPr anchor="ctr">
                    <a:solidFill>
                      <a:srgbClr val="F1F5F7"/>
                    </a:solidFill>
                  </a:tcPr>
                </a:tc>
                <a:tc>
                  <a:txBody>
                    <a:bodyPr/>
                    <a:lstStyle/>
                    <a:p>
                      <a:pPr algn="ctr"/>
                      <a:r>
                        <a:rPr sz="1500" b="0">
                          <a:solidFill>
                            <a:srgbClr val="141B24"/>
                          </a:solidFill>
                          <a:latin typeface="Segoe UI"/>
                        </a:rPr>
                        <a:t>34.6</a:t>
                      </a:r>
                    </a:p>
                  </a:txBody>
                  <a:tcPr anchor="ctr">
                    <a:solidFill>
                      <a:srgbClr val="F1F5F7"/>
                    </a:solidFill>
                  </a:tcPr>
                </a:tc>
                <a:tc>
                  <a:txBody>
                    <a:bodyPr/>
                    <a:lstStyle/>
                    <a:p>
                      <a:pPr algn="ctr"/>
                      <a:r>
                        <a:rPr sz="1500" b="0">
                          <a:solidFill>
                            <a:srgbClr val="141B24"/>
                          </a:solidFill>
                          <a:latin typeface="Segoe UI"/>
                        </a:rPr>
                        <a:t>2,932</a:t>
                      </a:r>
                    </a:p>
                  </a:txBody>
                  <a:tcPr anchor="ctr">
                    <a:solidFill>
                      <a:srgbClr val="F1F5F7"/>
                    </a:solidFill>
                  </a:tcPr>
                </a:tc>
                <a:tc>
                  <a:txBody>
                    <a:bodyPr/>
                    <a:lstStyle/>
                    <a:p>
                      <a:pPr algn="ctr"/>
                      <a:r>
                        <a:rPr sz="1500" b="0">
                          <a:solidFill>
                            <a:srgbClr val="141B24"/>
                          </a:solidFill>
                          <a:latin typeface="Segoe UI"/>
                        </a:rPr>
                        <a:t>2,377 – 3,572</a:t>
                      </a:r>
                    </a:p>
                  </a:txBody>
                  <a:tcPr anchor="ctr">
                    <a:solidFill>
                      <a:srgbClr val="F1F5F7"/>
                    </a:solidFill>
                  </a:tcPr>
                </a:tc>
                <a:tc>
                  <a:txBody>
                    <a:bodyPr/>
                    <a:lstStyle/>
                    <a:p>
                      <a:pPr algn="ctr"/>
                      <a:r>
                        <a:rPr sz="1500" b="0">
                          <a:solidFill>
                            <a:srgbClr val="141B24"/>
                          </a:solidFill>
                          <a:latin typeface="Segoe UI"/>
                        </a:rPr>
                        <a:t>101.4</a:t>
                      </a:r>
                    </a:p>
                  </a:txBody>
                  <a:tcPr anchor="ctr">
                    <a:solidFill>
                      <a:srgbClr val="F1F5F7"/>
                    </a:solidFill>
                  </a:tcPr>
                </a:tc>
                <a:tc>
                  <a:txBody>
                    <a:bodyPr/>
                    <a:lstStyle/>
                    <a:p>
                      <a:pPr algn="ctr"/>
                      <a:r>
                        <a:rPr sz="1500" b="0">
                          <a:solidFill>
                            <a:srgbClr val="141B24"/>
                          </a:solidFill>
                          <a:latin typeface="Segoe UI"/>
                        </a:rPr>
                        <a:t>grain</a:t>
                      </a:r>
                    </a:p>
                  </a:txBody>
                  <a:tcPr anchor="ctr">
                    <a:solidFill>
                      <a:srgbClr val="F1F5F7"/>
                    </a:solidFill>
                  </a:tcPr>
                </a:tc>
              </a:tr>
              <a:tr h="411480">
                <a:tc>
                  <a:txBody>
                    <a:bodyPr/>
                    <a:lstStyle/>
                    <a:p>
                      <a:pPr algn="l"/>
                      <a:r>
                        <a:rPr sz="1500" b="0">
                          <a:solidFill>
                            <a:srgbClr val="141B24"/>
                          </a:solidFill>
                          <a:latin typeface="Segoe UI"/>
                        </a:rPr>
                        <a:t>Groundnut</a:t>
                      </a:r>
                    </a:p>
                  </a:txBody>
                  <a:tcPr anchor="ctr">
                    <a:solidFill>
                      <a:srgbClr val="FFFFFF"/>
                    </a:solidFill>
                  </a:tcPr>
                </a:tc>
                <a:tc>
                  <a:txBody>
                    <a:bodyPr/>
                    <a:lstStyle/>
                    <a:p>
                      <a:pPr algn="ctr"/>
                      <a:r>
                        <a:rPr sz="1500" b="0">
                          <a:solidFill>
                            <a:srgbClr val="141B24"/>
                          </a:solidFill>
                          <a:latin typeface="Segoe UI"/>
                        </a:rPr>
                        <a:t>248</a:t>
                      </a:r>
                    </a:p>
                  </a:txBody>
                  <a:tcPr anchor="ctr">
                    <a:solidFill>
                      <a:srgbClr val="FFFFFF"/>
                    </a:solidFill>
                  </a:tcPr>
                </a:tc>
                <a:tc>
                  <a:txBody>
                    <a:bodyPr/>
                    <a:lstStyle/>
                    <a:p>
                      <a:pPr algn="ctr"/>
                      <a:r>
                        <a:rPr sz="1500" b="0">
                          <a:solidFill>
                            <a:srgbClr val="141B24"/>
                          </a:solidFill>
                          <a:latin typeface="Segoe UI"/>
                        </a:rPr>
                        <a:t>125.6</a:t>
                      </a:r>
                    </a:p>
                  </a:txBody>
                  <a:tcPr anchor="ctr">
                    <a:solidFill>
                      <a:srgbClr val="FFFFFF"/>
                    </a:solidFill>
                  </a:tcPr>
                </a:tc>
                <a:tc>
                  <a:txBody>
                    <a:bodyPr/>
                    <a:lstStyle/>
                    <a:p>
                      <a:pPr algn="ctr"/>
                      <a:r>
                        <a:rPr sz="1500" b="0">
                          <a:solidFill>
                            <a:srgbClr val="141B24"/>
                          </a:solidFill>
                          <a:latin typeface="Segoe UI"/>
                        </a:rPr>
                        <a:t>2,453</a:t>
                      </a:r>
                    </a:p>
                  </a:txBody>
                  <a:tcPr anchor="ctr">
                    <a:solidFill>
                      <a:srgbClr val="FFFFFF"/>
                    </a:solidFill>
                  </a:tcPr>
                </a:tc>
                <a:tc>
                  <a:txBody>
                    <a:bodyPr/>
                    <a:lstStyle/>
                    <a:p>
                      <a:pPr algn="ctr"/>
                      <a:r>
                        <a:rPr sz="1500" b="0">
                          <a:solidFill>
                            <a:srgbClr val="141B24"/>
                          </a:solidFill>
                          <a:latin typeface="Segoe UI"/>
                        </a:rPr>
                        <a:t>2,007 – 2,919</a:t>
                      </a:r>
                    </a:p>
                  </a:txBody>
                  <a:tcPr anchor="ctr">
                    <a:solidFill>
                      <a:srgbClr val="FFFFFF"/>
                    </a:solidFill>
                  </a:tcPr>
                </a:tc>
                <a:tc>
                  <a:txBody>
                    <a:bodyPr/>
                    <a:lstStyle/>
                    <a:p>
                      <a:pPr algn="ctr"/>
                      <a:r>
                        <a:rPr sz="1500" b="0">
                          <a:solidFill>
                            <a:srgbClr val="141B24"/>
                          </a:solidFill>
                          <a:latin typeface="Segoe UI"/>
                        </a:rPr>
                        <a:t>308.1</a:t>
                      </a:r>
                    </a:p>
                  </a:txBody>
                  <a:tcPr anchor="ctr">
                    <a:solidFill>
                      <a:srgbClr val="FFFFFF"/>
                    </a:solidFill>
                  </a:tcPr>
                </a:tc>
                <a:tc>
                  <a:txBody>
                    <a:bodyPr/>
                    <a:lstStyle/>
                    <a:p>
                      <a:pPr algn="ctr"/>
                      <a:r>
                        <a:rPr sz="1500" b="0">
                          <a:solidFill>
                            <a:srgbClr val="141B24"/>
                          </a:solidFill>
                          <a:latin typeface="Segoe UI"/>
                        </a:rPr>
                        <a:t>pod</a:t>
                      </a:r>
                    </a:p>
                  </a:txBody>
                  <a:tcPr anchor="ctr">
                    <a:solidFill>
                      <a:srgbClr val="FFFFFF"/>
                    </a:solidFill>
                  </a:tcPr>
                </a:tc>
              </a:tr>
            </a:tbl>
          </a:graphicData>
        </a:graphic>
      </p:graphicFrame>
      <p:sp>
        <p:nvSpPr>
          <p:cNvPr id="5" name="TextBox 4"/>
          <p:cNvSpPr txBox="1"/>
          <p:nvPr/>
        </p:nvSpPr>
        <p:spPr>
          <a:xfrm>
            <a:off x="457200" y="4206240"/>
            <a:ext cx="3566160" cy="685800"/>
          </a:xfrm>
          <a:prstGeom prst="rect">
            <a:avLst/>
          </a:prstGeom>
          <a:noFill/>
        </p:spPr>
        <p:txBody>
          <a:bodyPr wrap="square" lIns="0" rIns="0" tIns="0" bIns="0">
            <a:spAutoFit/>
          </a:bodyPr>
          <a:lstStyle/>
          <a:p>
            <a:pPr algn="ctr">
              <a:lnSpc>
                <a:spcPct val="120000"/>
              </a:lnSpc>
              <a:spcAft>
                <a:spcPts val="800"/>
              </a:spcAft>
            </a:pPr>
            <a:r>
              <a:rPr sz="3800" b="1" i="0">
                <a:solidFill>
                  <a:srgbClr val="15678A"/>
                </a:solidFill>
                <a:latin typeface="Segoe UI"/>
              </a:rPr>
              <a:t>756 t</a:t>
            </a:r>
          </a:p>
        </p:txBody>
      </p:sp>
      <p:sp>
        <p:nvSpPr>
          <p:cNvPr id="6" name="TextBox 5"/>
          <p:cNvSpPr txBox="1"/>
          <p:nvPr/>
        </p:nvSpPr>
        <p:spPr>
          <a:xfrm>
            <a:off x="457200" y="4919472"/>
            <a:ext cx="356616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total forecast production</a:t>
            </a:r>
          </a:p>
        </p:txBody>
      </p:sp>
      <p:sp>
        <p:nvSpPr>
          <p:cNvPr id="7" name="TextBox 6"/>
          <p:cNvSpPr txBox="1"/>
          <p:nvPr/>
        </p:nvSpPr>
        <p:spPr>
          <a:xfrm>
            <a:off x="4297680" y="4206240"/>
            <a:ext cx="3566160" cy="685800"/>
          </a:xfrm>
          <a:prstGeom prst="rect">
            <a:avLst/>
          </a:prstGeom>
          <a:noFill/>
        </p:spPr>
        <p:txBody>
          <a:bodyPr wrap="square" lIns="0" rIns="0" tIns="0" bIns="0">
            <a:spAutoFit/>
          </a:bodyPr>
          <a:lstStyle/>
          <a:p>
            <a:pPr algn="ctr">
              <a:lnSpc>
                <a:spcPct val="120000"/>
              </a:lnSpc>
              <a:spcAft>
                <a:spcPts val="800"/>
              </a:spcAft>
            </a:pPr>
            <a:r>
              <a:rPr sz="3800" b="1" i="0">
                <a:solidFill>
                  <a:srgbClr val="15678A"/>
                </a:solidFill>
                <a:latin typeface="Segoe UI"/>
              </a:rPr>
              <a:t>966 / 966</a:t>
            </a:r>
          </a:p>
        </p:txBody>
      </p:sp>
      <p:sp>
        <p:nvSpPr>
          <p:cNvPr id="8" name="TextBox 7"/>
          <p:cNvSpPr txBox="1"/>
          <p:nvPr/>
        </p:nvSpPr>
        <p:spPr>
          <a:xfrm>
            <a:off x="4297680" y="4919472"/>
            <a:ext cx="356616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plots carry a forecast</a:t>
            </a:r>
          </a:p>
          <a:p>
            <a:pPr algn="ctr">
              <a:lnSpc>
                <a:spcPct val="120000"/>
              </a:lnSpc>
              <a:spcAft>
                <a:spcPts val="800"/>
              </a:spcAft>
            </a:pPr>
            <a:r>
              <a:rPr sz="1200" b="0" i="0">
                <a:solidFill>
                  <a:srgbClr val="5B6876"/>
                </a:solidFill>
                <a:latin typeface="Segoe UI"/>
              </a:rPr>
              <a:t>832 full · 91 partial · 43 flagged</a:t>
            </a:r>
          </a:p>
        </p:txBody>
      </p:sp>
      <p:sp>
        <p:nvSpPr>
          <p:cNvPr id="9" name="TextBox 8"/>
          <p:cNvSpPr txBox="1"/>
          <p:nvPr/>
        </p:nvSpPr>
        <p:spPr>
          <a:xfrm>
            <a:off x="8138160" y="4206240"/>
            <a:ext cx="3566160" cy="685800"/>
          </a:xfrm>
          <a:prstGeom prst="rect">
            <a:avLst/>
          </a:prstGeom>
          <a:noFill/>
        </p:spPr>
        <p:txBody>
          <a:bodyPr wrap="square" lIns="0" rIns="0" tIns="0" bIns="0">
            <a:spAutoFit/>
          </a:bodyPr>
          <a:lstStyle/>
          <a:p>
            <a:pPr algn="ctr">
              <a:lnSpc>
                <a:spcPct val="120000"/>
              </a:lnSpc>
              <a:spcAft>
                <a:spcPts val="800"/>
              </a:spcAft>
            </a:pPr>
            <a:r>
              <a:rPr sz="3800" b="1" i="0">
                <a:solidFill>
                  <a:srgbClr val="8F5F14"/>
                </a:solidFill>
                <a:latin typeface="Segoe UI"/>
              </a:rPr>
              <a:t>±18–20%</a:t>
            </a:r>
          </a:p>
        </p:txBody>
      </p:sp>
      <p:sp>
        <p:nvSpPr>
          <p:cNvPr id="10" name="TextBox 9"/>
          <p:cNvSpPr txBox="1"/>
          <p:nvPr/>
        </p:nvSpPr>
        <p:spPr>
          <a:xfrm>
            <a:off x="8138160" y="4919472"/>
            <a:ext cx="3566160" cy="731520"/>
          </a:xfrm>
          <a:prstGeom prst="rect">
            <a:avLst/>
          </a:prstGeom>
          <a:noFill/>
        </p:spPr>
        <p:txBody>
          <a:bodyPr wrap="square" lIns="0" rIns="0" tIns="0" bIns="0">
            <a:spAutoFit/>
          </a:bodyPr>
          <a:lstStyle/>
          <a:p>
            <a:pPr algn="ctr">
              <a:lnSpc>
                <a:spcPct val="120000"/>
              </a:lnSpc>
              <a:spcAft>
                <a:spcPts val="800"/>
              </a:spcAft>
            </a:pPr>
            <a:r>
              <a:rPr sz="1200" b="0" i="0">
                <a:solidFill>
                  <a:srgbClr val="5B6876"/>
                </a:solidFill>
                <a:latin typeface="Segoe UI"/>
              </a:rPr>
              <a:t>village interval, ordered by</a:t>
            </a:r>
          </a:p>
          <a:p>
            <a:pPr algn="ctr">
              <a:lnSpc>
                <a:spcPct val="120000"/>
              </a:lnSpc>
              <a:spcAft>
                <a:spcPts val="800"/>
              </a:spcAft>
            </a:pPr>
            <a:r>
              <a:rPr sz="1200" b="0" i="0">
                <a:solidFill>
                  <a:srgbClr val="5B6876"/>
                </a:solidFill>
                <a:latin typeface="Segoe UI"/>
              </a:rPr>
              <a:t>how much of the crop we saw</a:t>
            </a:r>
          </a:p>
        </p:txBody>
      </p:sp>
      <p:sp>
        <p:nvSpPr>
          <p:cNvPr id="11" name="TextBox 10"/>
          <p:cNvSpPr txBox="1"/>
          <p:nvPr/>
        </p:nvSpPr>
        <p:spPr>
          <a:xfrm>
            <a:off x="457200" y="6172200"/>
            <a:ext cx="11292840" cy="457200"/>
          </a:xfrm>
          <a:prstGeom prst="rect">
            <a:avLst/>
          </a:prstGeom>
          <a:noFill/>
        </p:spPr>
        <p:txBody>
          <a:bodyPr wrap="square" lIns="0" rIns="0" tIns="0" bIns="0">
            <a:spAutoFit/>
          </a:bodyPr>
          <a:lstStyle/>
          <a:p>
            <a:pPr algn="l">
              <a:lnSpc>
                <a:spcPct val="120000"/>
              </a:lnSpc>
              <a:spcAft>
                <a:spcPts val="800"/>
              </a:spcAft>
            </a:pPr>
            <a:r>
              <a:rPr sz="1300" b="0" i="0">
                <a:solidFill>
                  <a:srgbClr val="5B6876"/>
                </a:solidFill>
                <a:latin typeface="Segoe UI"/>
              </a:rPr>
              <a:t>Area-weighted, never a plain plot mean — plot areas span three orders of magnitude. Cotton as lint; 820 kg/ha ≈ 2,340 kg/ha seed cotton.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The one number that would move the answer</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Not the radar — the crop map we inherited</a:t>
            </a:r>
          </a:p>
        </p:txBody>
      </p:sp>
      <p:graphicFrame>
        <p:nvGraphicFramePr>
          <p:cNvPr id="5" name="Table 4"/>
          <p:cNvGraphicFramePr>
            <a:graphicFrameLocks noGrp="1"/>
          </p:cNvGraphicFramePr>
          <p:nvPr/>
        </p:nvGraphicFramePr>
        <p:xfrm>
          <a:off x="731520" y="1417320"/>
          <a:ext cx="10698478" cy="2651760"/>
        </p:xfrm>
        <a:graphic>
          <a:graphicData uri="http://schemas.openxmlformats.org/drawingml/2006/table">
            <a:tbl>
              <a:tblPr firstRow="1" bandRow="1">
                <a:tableStyleId>{5C22544A-7EE6-4342-B048-85BDC9FD1C3A}</a:tableStyleId>
              </a:tblPr>
              <a:tblGrid>
                <a:gridCol w="2213478"/>
                <a:gridCol w="4242500"/>
                <a:gridCol w="4242500"/>
              </a:tblGrid>
              <a:tr h="378822">
                <a:tc>
                  <a:txBody>
                    <a:bodyPr/>
                    <a:lstStyle/>
                    <a:p>
                      <a:pPr algn="ctr"/>
                      <a:r>
                        <a:rPr sz="1400" b="1">
                          <a:solidFill>
                            <a:srgbClr val="FFFFFF"/>
                          </a:solidFill>
                          <a:latin typeface="Segoe UI"/>
                        </a:rPr>
                        <a:t>Crop</a:t>
                      </a:r>
                    </a:p>
                  </a:txBody>
                  <a:tcPr anchor="ctr">
                    <a:solidFill>
                      <a:srgbClr val="15678A"/>
                    </a:solidFill>
                  </a:tcPr>
                </a:tc>
                <a:tc>
                  <a:txBody>
                    <a:bodyPr/>
                    <a:lstStyle/>
                    <a:p>
                      <a:pPr algn="ctr"/>
                      <a:r>
                        <a:rPr sz="1400" b="1">
                          <a:solidFill>
                            <a:srgbClr val="FFFFFF"/>
                          </a:solidFill>
                          <a:latin typeface="Segoe UI"/>
                        </a:rPr>
                        <a:t>A · Round-1 carry-forward</a:t>
                      </a:r>
                    </a:p>
                  </a:txBody>
                  <a:tcPr anchor="ctr">
                    <a:solidFill>
                      <a:srgbClr val="15678A"/>
                    </a:solidFill>
                  </a:tcPr>
                </a:tc>
                <a:tc>
                  <a:txBody>
                    <a:bodyPr/>
                    <a:lstStyle/>
                    <a:p>
                      <a:pPr algn="ctr"/>
                      <a:r>
                        <a:rPr sz="1400" b="1">
                          <a:solidFill>
                            <a:srgbClr val="FFFFFF"/>
                          </a:solidFill>
                          <a:latin typeface="Segoe UI"/>
                        </a:rPr>
                        <a:t>B · District statistics</a:t>
                      </a:r>
                    </a:p>
                  </a:txBody>
                  <a:tcPr anchor="ctr">
                    <a:solidFill>
                      <a:srgbClr val="15678A"/>
                    </a:solidFill>
                  </a:tcPr>
                </a:tc>
              </a:tr>
              <a:tr h="378822">
                <a:tc>
                  <a:txBody>
                    <a:bodyPr/>
                    <a:lstStyle/>
                    <a:p>
                      <a:pPr algn="l"/>
                      <a:r>
                        <a:rPr sz="1500" b="0">
                          <a:solidFill>
                            <a:srgbClr val="141B24"/>
                          </a:solidFill>
                          <a:latin typeface="Segoe UI"/>
                        </a:rPr>
                        <a:t>Rice</a:t>
                      </a:r>
                    </a:p>
                  </a:txBody>
                  <a:tcPr anchor="ctr">
                    <a:solidFill>
                      <a:srgbClr val="FFFFFF"/>
                    </a:solidFill>
                  </a:tcPr>
                </a:tc>
                <a:tc>
                  <a:txBody>
                    <a:bodyPr/>
                    <a:lstStyle/>
                    <a:p>
                      <a:pPr algn="ctr"/>
                      <a:r>
                        <a:rPr sz="1500" b="0">
                          <a:solidFill>
                            <a:srgbClr val="141B24"/>
                          </a:solidFill>
                          <a:latin typeface="Segoe UI"/>
                        </a:rPr>
                        <a:t>61 ha → 106 t</a:t>
                      </a:r>
                    </a:p>
                  </a:txBody>
                  <a:tcPr anchor="ctr">
                    <a:solidFill>
                      <a:srgbClr val="FFFFFF"/>
                    </a:solidFill>
                  </a:tcPr>
                </a:tc>
                <a:tc>
                  <a:txBody>
                    <a:bodyPr/>
                    <a:lstStyle/>
                    <a:p>
                      <a:pPr algn="ctr"/>
                      <a:r>
                        <a:rPr sz="1500" b="0">
                          <a:solidFill>
                            <a:srgbClr val="141B24"/>
                          </a:solidFill>
                          <a:latin typeface="Segoe UI"/>
                        </a:rPr>
                        <a:t>79 ha → 135 t</a:t>
                      </a:r>
                    </a:p>
                  </a:txBody>
                  <a:tcPr anchor="ctr">
                    <a:solidFill>
                      <a:srgbClr val="FFFFFF"/>
                    </a:solidFill>
                  </a:tcPr>
                </a:tc>
              </a:tr>
              <a:tr h="378822">
                <a:tc>
                  <a:txBody>
                    <a:bodyPr/>
                    <a:lstStyle/>
                    <a:p>
                      <a:pPr algn="l"/>
                      <a:r>
                        <a:rPr sz="1500" b="0">
                          <a:solidFill>
                            <a:srgbClr val="141B24"/>
                          </a:solidFill>
                          <a:latin typeface="Segoe UI"/>
                        </a:rPr>
                        <a:t>Cotton</a:t>
                      </a:r>
                    </a:p>
                  </a:txBody>
                  <a:tcPr anchor="ctr">
                    <a:solidFill>
                      <a:srgbClr val="F1F5F7"/>
                    </a:solidFill>
                  </a:tcPr>
                </a:tc>
                <a:tc>
                  <a:txBody>
                    <a:bodyPr/>
                    <a:lstStyle/>
                    <a:p>
                      <a:pPr algn="ctr"/>
                      <a:r>
                        <a:rPr sz="1500" b="0">
                          <a:solidFill>
                            <a:srgbClr val="141B24"/>
                          </a:solidFill>
                          <a:latin typeface="Segoe UI"/>
                        </a:rPr>
                        <a:t>188 ha → 154 t</a:t>
                      </a:r>
                    </a:p>
                  </a:txBody>
                  <a:tcPr anchor="ctr">
                    <a:solidFill>
                      <a:srgbClr val="F1F5F7"/>
                    </a:solidFill>
                  </a:tcPr>
                </a:tc>
                <a:tc>
                  <a:txBody>
                    <a:bodyPr/>
                    <a:lstStyle/>
                    <a:p>
                      <a:pPr algn="ctr"/>
                      <a:r>
                        <a:rPr sz="1500" b="0">
                          <a:solidFill>
                            <a:srgbClr val="141B24"/>
                          </a:solidFill>
                          <a:latin typeface="Segoe UI"/>
                        </a:rPr>
                        <a:t>292 ha → 239 t</a:t>
                      </a:r>
                    </a:p>
                  </a:txBody>
                  <a:tcPr anchor="ctr">
                    <a:solidFill>
                      <a:srgbClr val="F1F5F7"/>
                    </a:solidFill>
                  </a:tcPr>
                </a:tc>
              </a:tr>
              <a:tr h="378822">
                <a:tc>
                  <a:txBody>
                    <a:bodyPr/>
                    <a:lstStyle/>
                    <a:p>
                      <a:pPr algn="l"/>
                      <a:r>
                        <a:rPr sz="1500" b="0">
                          <a:solidFill>
                            <a:srgbClr val="141B24"/>
                          </a:solidFill>
                          <a:latin typeface="Segoe UI"/>
                        </a:rPr>
                        <a:t>Maize</a:t>
                      </a:r>
                    </a:p>
                  </a:txBody>
                  <a:tcPr anchor="ctr">
                    <a:solidFill>
                      <a:srgbClr val="FFFFFF"/>
                    </a:solidFill>
                  </a:tcPr>
                </a:tc>
                <a:tc>
                  <a:txBody>
                    <a:bodyPr/>
                    <a:lstStyle/>
                    <a:p>
                      <a:pPr algn="ctr"/>
                      <a:r>
                        <a:rPr sz="1500" b="0">
                          <a:solidFill>
                            <a:srgbClr val="141B24"/>
                          </a:solidFill>
                          <a:latin typeface="Segoe UI"/>
                        </a:rPr>
                        <a:t>35 ha → 88 t</a:t>
                      </a:r>
                    </a:p>
                  </a:txBody>
                  <a:tcPr anchor="ctr">
                    <a:solidFill>
                      <a:srgbClr val="FFFFFF"/>
                    </a:solidFill>
                  </a:tcPr>
                </a:tc>
                <a:tc>
                  <a:txBody>
                    <a:bodyPr/>
                    <a:lstStyle/>
                    <a:p>
                      <a:pPr algn="ctr"/>
                      <a:r>
                        <a:rPr sz="1500" b="0">
                          <a:solidFill>
                            <a:srgbClr val="141B24"/>
                          </a:solidFill>
                          <a:latin typeface="Segoe UI"/>
                        </a:rPr>
                        <a:t>64 ha → 159 t</a:t>
                      </a:r>
                    </a:p>
                  </a:txBody>
                  <a:tcPr anchor="ctr">
                    <a:solidFill>
                      <a:srgbClr val="FFFFFF"/>
                    </a:solidFill>
                  </a:tcPr>
                </a:tc>
              </a:tr>
              <a:tr h="378822">
                <a:tc>
                  <a:txBody>
                    <a:bodyPr/>
                    <a:lstStyle/>
                    <a:p>
                      <a:pPr algn="l"/>
                      <a:r>
                        <a:rPr sz="1500" b="0">
                          <a:solidFill>
                            <a:srgbClr val="141B24"/>
                          </a:solidFill>
                          <a:latin typeface="Segoe UI"/>
                        </a:rPr>
                        <a:t>Bajra</a:t>
                      </a:r>
                    </a:p>
                  </a:txBody>
                  <a:tcPr anchor="ctr">
                    <a:solidFill>
                      <a:srgbClr val="F1F5F7"/>
                    </a:solidFill>
                  </a:tcPr>
                </a:tc>
                <a:tc>
                  <a:txBody>
                    <a:bodyPr/>
                    <a:lstStyle/>
                    <a:p>
                      <a:pPr algn="ctr"/>
                      <a:r>
                        <a:rPr sz="1500" b="0">
                          <a:solidFill>
                            <a:srgbClr val="141B24"/>
                          </a:solidFill>
                          <a:latin typeface="Segoe UI"/>
                        </a:rPr>
                        <a:t>35 ha → 103 t</a:t>
                      </a:r>
                    </a:p>
                  </a:txBody>
                  <a:tcPr anchor="ctr">
                    <a:solidFill>
                      <a:srgbClr val="F1F5F7"/>
                    </a:solidFill>
                  </a:tcPr>
                </a:tc>
                <a:tc>
                  <a:txBody>
                    <a:bodyPr/>
                    <a:lstStyle/>
                    <a:p>
                      <a:pPr algn="ctr"/>
                      <a:r>
                        <a:rPr sz="1500" b="0">
                          <a:solidFill>
                            <a:srgbClr val="141B24"/>
                          </a:solidFill>
                          <a:latin typeface="Segoe UI"/>
                        </a:rPr>
                        <a:t>11 ha → 32 t</a:t>
                      </a:r>
                    </a:p>
                  </a:txBody>
                  <a:tcPr anchor="ctr">
                    <a:solidFill>
                      <a:srgbClr val="F1F5F7"/>
                    </a:solidFill>
                  </a:tcPr>
                </a:tc>
              </a:tr>
              <a:tr h="378822">
                <a:tc>
                  <a:txBody>
                    <a:bodyPr/>
                    <a:lstStyle/>
                    <a:p>
                      <a:pPr algn="l"/>
                      <a:r>
                        <a:rPr sz="1500" b="1">
                          <a:solidFill>
                            <a:srgbClr val="141B24"/>
                          </a:solidFill>
                          <a:latin typeface="Segoe UI"/>
                        </a:rPr>
                        <a:t>Groundnut</a:t>
                      </a:r>
                    </a:p>
                  </a:txBody>
                  <a:tcPr anchor="ctr">
                    <a:solidFill>
                      <a:srgbClr val="FFFFFF"/>
                    </a:solidFill>
                  </a:tcPr>
                </a:tc>
                <a:tc>
                  <a:txBody>
                    <a:bodyPr/>
                    <a:lstStyle/>
                    <a:p>
                      <a:pPr algn="ctr"/>
                      <a:r>
                        <a:rPr sz="1500" b="1">
                          <a:solidFill>
                            <a:srgbClr val="141B24"/>
                          </a:solidFill>
                          <a:latin typeface="Segoe UI"/>
                        </a:rPr>
                        <a:t>127 ha → 313 t</a:t>
                      </a:r>
                    </a:p>
                  </a:txBody>
                  <a:tcPr anchor="ctr">
                    <a:solidFill>
                      <a:srgbClr val="FFFFFF"/>
                    </a:solidFill>
                  </a:tcPr>
                </a:tc>
                <a:tc>
                  <a:txBody>
                    <a:bodyPr/>
                    <a:lstStyle/>
                    <a:p>
                      <a:pPr algn="ctr"/>
                      <a:r>
                        <a:rPr sz="1500" b="1">
                          <a:solidFill>
                            <a:srgbClr val="141B24"/>
                          </a:solidFill>
                          <a:latin typeface="Segoe UI"/>
                        </a:rPr>
                        <a:t>1.7 ha → 4 t</a:t>
                      </a:r>
                    </a:p>
                  </a:txBody>
                  <a:tcPr anchor="ctr">
                    <a:solidFill>
                      <a:srgbClr val="FFFFFF"/>
                    </a:solidFill>
                  </a:tcPr>
                </a:tc>
              </a:tr>
              <a:tr h="378828">
                <a:tc>
                  <a:txBody>
                    <a:bodyPr/>
                    <a:lstStyle/>
                    <a:p>
                      <a:pPr algn="l"/>
                      <a:r>
                        <a:rPr sz="1500" b="1">
                          <a:solidFill>
                            <a:srgbClr val="141B24"/>
                          </a:solidFill>
                          <a:latin typeface="Segoe UI"/>
                        </a:rPr>
                        <a:t>VILLAGE TOTAL</a:t>
                      </a:r>
                    </a:p>
                  </a:txBody>
                  <a:tcPr anchor="ctr">
                    <a:solidFill>
                      <a:srgbClr val="F1F5F7"/>
                    </a:solidFill>
                  </a:tcPr>
                </a:tc>
                <a:tc>
                  <a:txBody>
                    <a:bodyPr/>
                    <a:lstStyle/>
                    <a:p>
                      <a:pPr algn="ctr"/>
                      <a:r>
                        <a:rPr sz="1500" b="1">
                          <a:solidFill>
                            <a:srgbClr val="141B24"/>
                          </a:solidFill>
                          <a:latin typeface="Segoe UI"/>
                        </a:rPr>
                        <a:t>763 t</a:t>
                      </a:r>
                    </a:p>
                  </a:txBody>
                  <a:tcPr anchor="ctr">
                    <a:solidFill>
                      <a:srgbClr val="F1F5F7"/>
                    </a:solidFill>
                  </a:tcPr>
                </a:tc>
                <a:tc>
                  <a:txBody>
                    <a:bodyPr/>
                    <a:lstStyle/>
                    <a:p>
                      <a:pPr algn="ctr"/>
                      <a:r>
                        <a:rPr sz="1500" b="1">
                          <a:solidFill>
                            <a:srgbClr val="141B24"/>
                          </a:solidFill>
                          <a:latin typeface="Segoe UI"/>
                        </a:rPr>
                        <a:t>570 t</a:t>
                      </a:r>
                    </a:p>
                  </a:txBody>
                  <a:tcPr anchor="ctr">
                    <a:solidFill>
                      <a:srgbClr val="F1F5F7"/>
                    </a:solidFill>
                  </a:tcPr>
                </a:tc>
              </a:tr>
            </a:tbl>
          </a:graphicData>
        </a:graphic>
      </p:graphicFrame>
      <p:sp>
        <p:nvSpPr>
          <p:cNvPr id="6" name="TextBox 5"/>
          <p:cNvSpPr txBox="1"/>
          <p:nvPr/>
        </p:nvSpPr>
        <p:spPr>
          <a:xfrm>
            <a:off x="731520" y="4343400"/>
            <a:ext cx="10698480" cy="2011680"/>
          </a:xfrm>
          <a:prstGeom prst="rect">
            <a:avLst/>
          </a:prstGeom>
          <a:noFill/>
        </p:spPr>
        <p:txBody>
          <a:bodyPr wrap="square" lIns="0" rIns="0" tIns="0" bIns="0">
            <a:spAutoFit/>
          </a:bodyPr>
          <a:lstStyle/>
          <a:p>
            <a:pPr algn="l">
              <a:lnSpc>
                <a:spcPct val="120000"/>
              </a:lnSpc>
              <a:spcAft>
                <a:spcPts val="800"/>
              </a:spcAft>
            </a:pPr>
            <a:r>
              <a:rPr sz="1800" b="0" i="0">
                <a:solidFill>
                  <a:srgbClr val="141B24"/>
                </a:solidFill>
                <a:latin typeface="Segoe UI"/>
              </a:rPr>
              <a:t>Round-1 puts groundnut at </a:t>
            </a:r>
            <a:r>
              <a:rPr sz="1800" b="1" i="0">
                <a:solidFill>
                  <a:srgbClr val="141B24"/>
                </a:solidFill>
                <a:latin typeface="Segoe UI"/>
              </a:rPr>
              <a:t>28% of Sokhda</a:t>
            </a:r>
            <a:r>
              <a:rPr sz="1800" b="0" i="0">
                <a:solidFill>
                  <a:srgbClr val="141B24"/>
                </a:solidFill>
                <a:latin typeface="Segoe UI"/>
              </a:rPr>
              <a:t>; the district figure is </a:t>
            </a:r>
            <a:r>
              <a:rPr sz="1800" b="1" i="0">
                <a:solidFill>
                  <a:srgbClr val="141B24"/>
                </a:solidFill>
                <a:latin typeface="Segoe UI"/>
              </a:rPr>
              <a:t>0.35%</a:t>
            </a:r>
            <a:r>
              <a:rPr sz="1800" b="0" i="0">
                <a:solidFill>
                  <a:srgbClr val="141B24"/>
                </a:solidFill>
                <a:latin typeface="Segoe UI"/>
              </a:rPr>
              <a:t>. Both cannot be close to right.</a:t>
            </a:r>
          </a:p>
          <a:p>
            <a:pPr algn="l">
              <a:lnSpc>
                <a:spcPct val="120000"/>
              </a:lnSpc>
              <a:spcAft>
                <a:spcPts val="800"/>
              </a:spcAft>
            </a:pPr>
          </a:p>
          <a:p>
            <a:pPr algn="l">
              <a:lnSpc>
                <a:spcPct val="120000"/>
              </a:lnSpc>
              <a:spcAft>
                <a:spcPts val="800"/>
              </a:spcAft>
            </a:pPr>
            <a:r>
              <a:rPr sz="1800" b="1" i="0">
                <a:solidFill>
                  <a:srgbClr val="141B24"/>
                </a:solidFill>
                <a:latin typeface="Segoe UI"/>
              </a:rPr>
              <a:t>A 25% swing in village production, essentially all of it groundnut.</a:t>
            </a:r>
            <a:r>
              <a:rPr sz="1800" b="0" i="0">
                <a:solidFill>
                  <a:srgbClr val="141B24"/>
                </a:solidFill>
                <a:latin typeface="Segoe UI"/>
              </a:rPr>
              <a:t> We publish both rather than choose silently.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1155680" cy="548640"/>
          </a:xfrm>
          <a:prstGeom prst="rect">
            <a:avLst/>
          </a:prstGeom>
          <a:noFill/>
        </p:spPr>
        <p:txBody>
          <a:bodyPr wrap="square" lIns="0" rIns="0" tIns="0" bIns="0">
            <a:spAutoFit/>
          </a:bodyPr>
          <a:lstStyle/>
          <a:p>
            <a:pPr algn="l">
              <a:lnSpc>
                <a:spcPct val="120000"/>
              </a:lnSpc>
              <a:spcAft>
                <a:spcPts val="800"/>
              </a:spcAft>
            </a:pPr>
            <a:r>
              <a:rPr sz="3000" b="1" i="0">
                <a:solidFill>
                  <a:srgbClr val="141B24"/>
                </a:solidFill>
                <a:latin typeface="Segoe UI"/>
              </a:rPr>
              <a:t>Where this is weakest</a:t>
            </a:r>
          </a:p>
        </p:txBody>
      </p:sp>
      <p:sp>
        <p:nvSpPr>
          <p:cNvPr id="4" name="TextBox 3"/>
          <p:cNvSpPr txBox="1"/>
          <p:nvPr/>
        </p:nvSpPr>
        <p:spPr>
          <a:xfrm>
            <a:off x="548640" y="694944"/>
            <a:ext cx="11155680" cy="310896"/>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A forecast without its limits is not a forecast</a:t>
            </a:r>
          </a:p>
        </p:txBody>
      </p:sp>
      <p:sp>
        <p:nvSpPr>
          <p:cNvPr id="5" name="TextBox 4"/>
          <p:cNvSpPr txBox="1"/>
          <p:nvPr/>
        </p:nvSpPr>
        <p:spPr>
          <a:xfrm>
            <a:off x="731520" y="1463040"/>
            <a:ext cx="10698480" cy="4937760"/>
          </a:xfrm>
          <a:prstGeom prst="rect">
            <a:avLst/>
          </a:prstGeom>
          <a:noFill/>
        </p:spPr>
        <p:txBody>
          <a:bodyPr wrap="square" lIns="0" rIns="0" tIns="0" bIns="0">
            <a:spAutoFit/>
          </a:bodyPr>
          <a:lstStyle/>
          <a:p>
            <a:pPr algn="l">
              <a:lnSpc>
                <a:spcPct val="120000"/>
              </a:lnSpc>
              <a:spcAft>
                <a:spcPts val="0"/>
              </a:spcAft>
            </a:pPr>
            <a:r>
              <a:rPr sz="1700" b="1" i="0">
                <a:solidFill>
                  <a:srgbClr val="141B24"/>
                </a:solidFill>
                <a:latin typeface="Segoe UI"/>
              </a:rPr>
              <a:t>No ground truth exists</a:t>
            </a:r>
            <a:r>
              <a:rPr sz="1700" b="0" i="0">
                <a:solidFill>
                  <a:srgbClr val="141B24"/>
                </a:solidFill>
                <a:latin typeface="Segoe UI"/>
              </a:rPr>
              <a:t> — absolute accuracy is untestable. Only internal consistency and independent optical agreement can be checked, and both are reported.</a:t>
            </a:r>
          </a:p>
          <a:p>
            <a:pPr algn="l">
              <a:lnSpc>
                <a:spcPct val="120000"/>
              </a:lnSpc>
              <a:spcAft>
                <a:spcPts val="0"/>
              </a:spcAft>
            </a:pPr>
          </a:p>
          <a:p>
            <a:pPr algn="l">
              <a:lnSpc>
                <a:spcPct val="120000"/>
              </a:lnSpc>
              <a:spcAft>
                <a:spcPts val="0"/>
              </a:spcAft>
            </a:pPr>
            <a:r>
              <a:rPr sz="1700" b="1" i="0">
                <a:solidFill>
                  <a:srgbClr val="141B24"/>
                </a:solidFill>
                <a:latin typeface="Segoe UI"/>
              </a:rPr>
              <a:t>Maize, bajra and groundnut rest on one in-season observation.</a:t>
            </a:r>
            <a:r>
              <a:rPr sz="1700" b="0" i="0">
                <a:solidFill>
                  <a:srgbClr val="141B24"/>
                </a:solidFill>
                <a:latin typeface="Segoe UI"/>
              </a:rPr>
              <a:t> Their intervals are wide by construction and should be read that way.</a:t>
            </a:r>
          </a:p>
          <a:p>
            <a:pPr algn="l">
              <a:lnSpc>
                <a:spcPct val="120000"/>
              </a:lnSpc>
              <a:spcAft>
                <a:spcPts val="0"/>
              </a:spcAft>
            </a:pPr>
          </a:p>
          <a:p>
            <a:pPr algn="l">
              <a:lnSpc>
                <a:spcPct val="120000"/>
              </a:lnSpc>
              <a:spcAft>
                <a:spcPts val="0"/>
              </a:spcAft>
            </a:pPr>
            <a:r>
              <a:rPr sz="1700" b="1" i="0">
                <a:solidFill>
                  <a:srgbClr val="141B24"/>
                </a:solidFill>
                <a:latin typeface="Segoe UI"/>
              </a:rPr>
              <a:t>Crop labels dominate the error budget, not the radar</a:t>
            </a:r>
            <a:r>
              <a:rPr sz="1700" b="0" i="0">
                <a:solidFill>
                  <a:srgbClr val="141B24"/>
                </a:solidFill>
                <a:latin typeface="Segoe UI"/>
              </a:rPr>
              <a:t> — a 25% swing in village production.</a:t>
            </a:r>
          </a:p>
          <a:p>
            <a:pPr algn="l">
              <a:lnSpc>
                <a:spcPct val="120000"/>
              </a:lnSpc>
              <a:spcAft>
                <a:spcPts val="0"/>
              </a:spcAft>
            </a:pPr>
          </a:p>
          <a:p>
            <a:pPr algn="l">
              <a:lnSpc>
                <a:spcPct val="120000"/>
              </a:lnSpc>
              <a:spcAft>
                <a:spcPts val="0"/>
              </a:spcAft>
            </a:pPr>
            <a:r>
              <a:rPr sz="1700" b="1" i="0">
                <a:solidFill>
                  <a:srgbClr val="141B24"/>
                </a:solidFill>
                <a:latin typeface="Segoe UI"/>
              </a:rPr>
              <a:t>Only five classes are permitted</a:t>
            </a:r>
            <a:r>
              <a:rPr sz="1700" b="0" i="0">
                <a:solidFill>
                  <a:srgbClr val="141B24"/>
                </a:solidFill>
                <a:latin typeface="Segoe UI"/>
              </a:rPr>
              <a:t>, but Vadodara also grows castor and pigeon pea at areas comparable to maize. Some plots are certainly another crop.</a:t>
            </a:r>
          </a:p>
          <a:p>
            <a:pPr algn="l">
              <a:lnSpc>
                <a:spcPct val="120000"/>
              </a:lnSpc>
              <a:spcAft>
                <a:spcPts val="0"/>
              </a:spcAft>
            </a:pPr>
          </a:p>
          <a:p>
            <a:pPr algn="l">
              <a:lnSpc>
                <a:spcPct val="120000"/>
              </a:lnSpc>
              <a:spcAft>
                <a:spcPts val="0"/>
              </a:spcAft>
            </a:pPr>
            <a:r>
              <a:rPr sz="1700" b="1" i="0">
                <a:solidFill>
                  <a:srgbClr val="141B24"/>
                </a:solidFill>
                <a:latin typeface="Segoe UI"/>
              </a:rPr>
              <a:t>43 plots fall outside every swath footprint</a:t>
            </a:r>
            <a:r>
              <a:rPr sz="1700" b="0" i="0">
                <a:solidFill>
                  <a:srgbClr val="141B24"/>
                </a:solidFill>
                <a:latin typeface="Segoe UI"/>
              </a:rPr>
              <a:t> — they carry the crop mean with inflated uncertainty and are flagged, not hidden.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822960"/>
          </a:xfrm>
          <a:prstGeom prst="rect">
            <a:avLst/>
          </a:prstGeom>
          <a:noFill/>
        </p:spPr>
        <p:txBody>
          <a:bodyPr wrap="square" lIns="0" rIns="0" tIns="0" bIns="0">
            <a:spAutoFit/>
          </a:bodyPr>
          <a:lstStyle/>
          <a:p>
            <a:pPr algn="l">
              <a:lnSpc>
                <a:spcPct val="120000"/>
              </a:lnSpc>
              <a:spcAft>
                <a:spcPts val="800"/>
              </a:spcAft>
            </a:pPr>
            <a:r>
              <a:rPr sz="3600" b="1" i="0">
                <a:solidFill>
                  <a:srgbClr val="141B24"/>
                </a:solidFill>
                <a:latin typeface="Segoe UI"/>
              </a:rPr>
              <a:t>What we would want next</a:t>
            </a:r>
          </a:p>
        </p:txBody>
      </p:sp>
      <p:sp>
        <p:nvSpPr>
          <p:cNvPr id="4" name="TextBox 3"/>
          <p:cNvSpPr txBox="1"/>
          <p:nvPr/>
        </p:nvSpPr>
        <p:spPr>
          <a:xfrm>
            <a:off x="914400" y="2286000"/>
            <a:ext cx="10332720" cy="3474720"/>
          </a:xfrm>
          <a:prstGeom prst="rect">
            <a:avLst/>
          </a:prstGeom>
          <a:noFill/>
        </p:spPr>
        <p:txBody>
          <a:bodyPr wrap="square" lIns="0" rIns="0" tIns="0" bIns="0">
            <a:spAutoFit/>
          </a:bodyPr>
          <a:lstStyle/>
          <a:p>
            <a:pPr algn="l">
              <a:lnSpc>
                <a:spcPct val="120000"/>
              </a:lnSpc>
              <a:spcAft>
                <a:spcPts val="800"/>
              </a:spcAft>
            </a:pPr>
            <a:r>
              <a:rPr sz="1800" b="1" i="0">
                <a:solidFill>
                  <a:srgbClr val="141B24"/>
                </a:solidFill>
                <a:latin typeface="Segoe UI"/>
              </a:rPr>
              <a:t>One acquisition in early September.</a:t>
            </a:r>
            <a:r>
              <a:rPr sz="1800" b="0" i="0">
                <a:solidFill>
                  <a:srgbClr val="141B24"/>
                </a:solidFill>
                <a:latin typeface="Segoe UI"/>
              </a:rPr>
              <a:t> A single pass inside the 60-day gap would convert maize, bajra and groundnut from one-look estimates into properly sampled seasons — the largest gain available for the least data.</a:t>
            </a:r>
          </a:p>
          <a:p>
            <a:pPr algn="l">
              <a:lnSpc>
                <a:spcPct val="120000"/>
              </a:lnSpc>
              <a:spcAft>
                <a:spcPts val="800"/>
              </a:spcAft>
            </a:pPr>
          </a:p>
          <a:p>
            <a:pPr algn="l">
              <a:lnSpc>
                <a:spcPct val="120000"/>
              </a:lnSpc>
              <a:spcAft>
                <a:spcPts val="800"/>
              </a:spcAft>
            </a:pPr>
            <a:r>
              <a:rPr sz="1800" b="1" i="0">
                <a:solidFill>
                  <a:srgbClr val="141B24"/>
                </a:solidFill>
                <a:latin typeface="Segoe UI"/>
              </a:rPr>
              <a:t>Any dual-polarisation acquisition.</a:t>
            </a:r>
            <a:r>
              <a:rPr sz="1800" b="0" i="0">
                <a:solidFill>
                  <a:srgbClr val="141B24"/>
                </a:solidFill>
                <a:latin typeface="Segoe UI"/>
              </a:rPr>
              <a:t> HH alone cannot separate volume from surface scattering; HV would resolve much of what forced us away from biomass inversion.</a:t>
            </a:r>
          </a:p>
          <a:p>
            <a:pPr algn="l">
              <a:lnSpc>
                <a:spcPct val="120000"/>
              </a:lnSpc>
              <a:spcAft>
                <a:spcPts val="800"/>
              </a:spcAft>
            </a:pPr>
          </a:p>
          <a:p>
            <a:pPr algn="l">
              <a:lnSpc>
                <a:spcPct val="120000"/>
              </a:lnSpc>
              <a:spcAft>
                <a:spcPts val="800"/>
              </a:spcAft>
            </a:pPr>
            <a:r>
              <a:rPr sz="1800" b="1" i="0">
                <a:solidFill>
                  <a:srgbClr val="141B24"/>
                </a:solidFill>
                <a:latin typeface="Segoe UI"/>
              </a:rPr>
              <a:t>Twenty ground-truth plots.</a:t>
            </a:r>
            <a:r>
              <a:rPr sz="1800" b="0" i="0">
                <a:solidFill>
                  <a:srgbClr val="141B24"/>
                </a:solidFill>
                <a:latin typeface="Segoe UI"/>
              </a:rPr>
              <a:t> Not to fit the model — to estimate ρ, the one parameter we currently have to assume.</a:t>
            </a:r>
          </a:p>
        </p:txBody>
      </p:sp>
      <p:sp>
        <p:nvSpPr>
          <p:cNvPr id="5" name="TextBox 4"/>
          <p:cNvSpPr txBox="1"/>
          <p:nvPr/>
        </p:nvSpPr>
        <p:spPr>
          <a:xfrm>
            <a:off x="914400" y="6035040"/>
            <a:ext cx="10332720" cy="457200"/>
          </a:xfrm>
          <a:prstGeom prst="rect">
            <a:avLst/>
          </a:prstGeom>
          <a:noFill/>
        </p:spPr>
        <p:txBody>
          <a:bodyPr wrap="square" lIns="0" rIns="0" tIns="0" bIns="0">
            <a:spAutoFit/>
          </a:bodyPr>
          <a:lstStyle/>
          <a:p>
            <a:pPr algn="l">
              <a:lnSpc>
                <a:spcPct val="120000"/>
              </a:lnSpc>
              <a:spcAft>
                <a:spcPts val="800"/>
              </a:spcAft>
            </a:pPr>
            <a:r>
              <a:rPr sz="1400" b="0" i="0">
                <a:solidFill>
                  <a:srgbClr val="5B6876"/>
                </a:solidFill>
                <a:latin typeface="Segoe UI"/>
              </a:rPr>
              <a:t>Team 8bit  ·  Harsh Thummar, Viraj Suhagiya  ·  ANRF AISEHack 2.0 Round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